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305" r:id="rId5"/>
    <p:sldId id="306" r:id="rId6"/>
    <p:sldId id="307" r:id="rId7"/>
    <p:sldId id="308" r:id="rId8"/>
    <p:sldId id="309" r:id="rId9"/>
    <p:sldId id="310" r:id="rId10"/>
    <p:sldId id="311" r:id="rId11"/>
    <p:sldId id="312" r:id="rId12"/>
    <p:sldId id="313" r:id="rId13"/>
    <p:sldId id="314" r:id="rId14"/>
    <p:sldId id="315" r:id="rId15"/>
    <p:sldId id="316" r:id="rId16"/>
    <p:sldId id="318" r:id="rId17"/>
    <p:sldId id="320" r:id="rId18"/>
    <p:sldId id="31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82"/>
  </p:normalViewPr>
  <p:slideViewPr>
    <p:cSldViewPr snapToGrid="0">
      <p:cViewPr>
        <p:scale>
          <a:sx n="80" d="100"/>
          <a:sy n="80" d="100"/>
        </p:scale>
        <p:origin x="782" y="48"/>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12/6/2025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12/6/2025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13</a:t>
            </a:fld>
            <a:endParaRPr lang="en-US" noProof="0" dirty="0"/>
          </a:p>
        </p:txBody>
      </p:sp>
    </p:spTree>
    <p:extLst>
      <p:ext uri="{BB962C8B-B14F-4D97-AF65-F5344CB8AC3E}">
        <p14:creationId xmlns:p14="http://schemas.microsoft.com/office/powerpoint/2010/main" val="10684464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workdesign.com/2022/08/authentically-gen-z-the-values-aspirations-drivers-that-will-re-define-the-future-of-work/"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5.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841248"/>
            <a:ext cx="10479024" cy="557784"/>
          </a:xfrm>
        </p:spPr>
        <p:txBody>
          <a:bodyPr/>
          <a:lstStyle/>
          <a:p>
            <a:r>
              <a:rPr lang="en-US" dirty="0"/>
              <a:t>Understanding career aspirations of gen-z</a:t>
            </a:r>
            <a:br>
              <a:rPr lang="en-US" dirty="0"/>
            </a:br>
            <a:endParaRPr lang="en-US" dirty="0"/>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36192"/>
            <a:ext cx="10479215" cy="4480560"/>
          </a:xfrm>
        </p:spPr>
        <p:txBody>
          <a:bodyPr/>
          <a:lstStyle/>
          <a:p>
            <a:r>
              <a:rPr lang="en-US" dirty="0"/>
              <a:t>INSIGHT</a:t>
            </a:r>
            <a:br>
              <a:rPr lang="en-US" dirty="0"/>
            </a:br>
            <a:r>
              <a:rPr lang="en-US" dirty="0"/>
              <a:t>PRESENTATION</a:t>
            </a:r>
          </a:p>
          <a:p>
            <a:r>
              <a:rPr lang="en-US" dirty="0"/>
              <a:t>                                          </a:t>
            </a:r>
          </a:p>
          <a:p>
            <a:r>
              <a:rPr lang="en-US" sz="2000" dirty="0"/>
              <a:t>                                                                                                                                                    </a:t>
            </a:r>
            <a:r>
              <a:rPr lang="en-US" sz="2000" b="1" dirty="0"/>
              <a:t>By Keerthana Nyalapally</a:t>
            </a:r>
            <a:r>
              <a:rPr lang="en-US" dirty="0"/>
              <a:t>                                                                                                   </a:t>
            </a:r>
          </a:p>
        </p:txBody>
      </p:sp>
      <p:pic>
        <p:nvPicPr>
          <p:cNvPr id="5" name="Picture 4">
            <a:extLst>
              <a:ext uri="{FF2B5EF4-FFF2-40B4-BE49-F238E27FC236}">
                <a16:creationId xmlns:a16="http://schemas.microsoft.com/office/drawing/2014/main" id="{0668F8E0-EE00-3C24-A28D-85F770B0CA89}"/>
              </a:ext>
            </a:extLst>
          </p:cNvPr>
          <p:cNvPicPr>
            <a:picLocks noChangeAspect="1"/>
          </p:cNvPicPr>
          <p:nvPr/>
        </p:nvPicPr>
        <p:blipFill>
          <a:blip r:embed="rId2"/>
          <a:stretch>
            <a:fillRect/>
          </a:stretch>
        </p:blipFill>
        <p:spPr>
          <a:xfrm>
            <a:off x="159026" y="3319671"/>
            <a:ext cx="8120270" cy="3392598"/>
          </a:xfrm>
          <a:prstGeom prst="rect">
            <a:avLst/>
          </a:prstGeom>
        </p:spPr>
      </p:pic>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23F-2B95-8D5A-8578-DBC0FC0DCEA8}"/>
              </a:ext>
            </a:extLst>
          </p:cNvPr>
          <p:cNvSpPr>
            <a:spLocks noGrp="1"/>
          </p:cNvSpPr>
          <p:nvPr>
            <p:ph type="title"/>
          </p:nvPr>
        </p:nvSpPr>
        <p:spPr>
          <a:xfrm>
            <a:off x="841248" y="841248"/>
            <a:ext cx="10479024" cy="557784"/>
          </a:xfrm>
        </p:spPr>
        <p:txBody>
          <a:bodyPr/>
          <a:lstStyle/>
          <a:p>
            <a:r>
              <a:rPr lang="en-US" dirty="0"/>
              <a:t>Agenda</a:t>
            </a:r>
          </a:p>
        </p:txBody>
      </p:sp>
      <p:sp>
        <p:nvSpPr>
          <p:cNvPr id="5" name="Text Placeholder 4">
            <a:extLst>
              <a:ext uri="{FF2B5EF4-FFF2-40B4-BE49-F238E27FC236}">
                <a16:creationId xmlns:a16="http://schemas.microsoft.com/office/drawing/2014/main" id="{DFFF7AA9-7C16-A939-67C8-DF700FEF7D83}"/>
              </a:ext>
            </a:extLst>
          </p:cNvPr>
          <p:cNvSpPr>
            <a:spLocks noGrp="1"/>
          </p:cNvSpPr>
          <p:nvPr>
            <p:ph sz="quarter" idx="13"/>
          </p:nvPr>
        </p:nvSpPr>
        <p:spPr>
          <a:xfrm>
            <a:off x="841248" y="1536827"/>
            <a:ext cx="6556375" cy="4479925"/>
          </a:xfrm>
        </p:spPr>
        <p:txBody>
          <a:bodyPr/>
          <a:lstStyle/>
          <a:p>
            <a:r>
              <a:rPr lang="en-US" dirty="0"/>
              <a:t>Introduction</a:t>
            </a:r>
          </a:p>
          <a:p>
            <a:r>
              <a:rPr lang="en-US" dirty="0"/>
              <a:t>Problem Statement</a:t>
            </a:r>
          </a:p>
          <a:p>
            <a:r>
              <a:rPr lang="en-US" dirty="0"/>
              <a:t>Project Flow</a:t>
            </a:r>
          </a:p>
          <a:p>
            <a:r>
              <a:rPr lang="en-US" dirty="0"/>
              <a:t>Employer Overview</a:t>
            </a:r>
          </a:p>
          <a:p>
            <a:r>
              <a:rPr lang="en-US" dirty="0"/>
              <a:t>Insights</a:t>
            </a:r>
          </a:p>
          <a:p>
            <a:r>
              <a:rPr lang="en-US" dirty="0"/>
              <a:t>Conclusion</a:t>
            </a:r>
          </a:p>
          <a:p>
            <a:endParaRPr lang="en-US" dirty="0"/>
          </a:p>
        </p:txBody>
      </p:sp>
      <p:sp>
        <p:nvSpPr>
          <p:cNvPr id="4" name="Slide Number Placeholder 3">
            <a:extLst>
              <a:ext uri="{FF2B5EF4-FFF2-40B4-BE49-F238E27FC236}">
                <a16:creationId xmlns:a16="http://schemas.microsoft.com/office/drawing/2014/main" id="{58FEA6BC-F3A8-6DDC-F1F8-6348F54E8BE2}"/>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2</a:t>
            </a:fld>
            <a:endParaRPr lang="en-US" dirty="0"/>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F36F11-A50A-4347-9430-9522EAFCAB77}"/>
              </a:ext>
            </a:extLst>
          </p:cNvPr>
          <p:cNvSpPr>
            <a:spLocks noGrp="1"/>
          </p:cNvSpPr>
          <p:nvPr>
            <p:ph type="title"/>
          </p:nvPr>
        </p:nvSpPr>
        <p:spPr>
          <a:xfrm>
            <a:off x="841248" y="841248"/>
            <a:ext cx="6931152" cy="557784"/>
          </a:xfrm>
        </p:spPr>
        <p:txBody>
          <a:bodyPr/>
          <a:lstStyle/>
          <a:p>
            <a:r>
              <a:rPr lang="en-US" dirty="0"/>
              <a:t>Introduction</a:t>
            </a:r>
            <a:br>
              <a:rPr lang="en-US" dirty="0"/>
            </a:br>
            <a:br>
              <a:rPr lang="en-US" dirty="0"/>
            </a:br>
            <a:endParaRPr lang="en-US" dirty="0"/>
          </a:p>
        </p:txBody>
      </p:sp>
      <p:sp>
        <p:nvSpPr>
          <p:cNvPr id="4" name="Text Placeholder 3">
            <a:extLst>
              <a:ext uri="{FF2B5EF4-FFF2-40B4-BE49-F238E27FC236}">
                <a16:creationId xmlns:a16="http://schemas.microsoft.com/office/drawing/2014/main" id="{9A1E0E93-C6B0-0C8B-16D2-354982229DB1}"/>
              </a:ext>
            </a:extLst>
          </p:cNvPr>
          <p:cNvSpPr>
            <a:spLocks noGrp="1"/>
          </p:cNvSpPr>
          <p:nvPr>
            <p:ph type="body" sz="quarter" idx="10"/>
          </p:nvPr>
        </p:nvSpPr>
        <p:spPr>
          <a:xfrm>
            <a:off x="841247" y="1536192"/>
            <a:ext cx="6931152" cy="4480560"/>
          </a:xfrm>
        </p:spPr>
        <p:txBody>
          <a:bodyPr/>
          <a:lstStyle/>
          <a:p>
            <a:r>
              <a:rPr lang="en-US" sz="2000" dirty="0"/>
              <a:t>This project explores the career aspirations of Gen Z, focusing on what today’s young workforce values in their professional journey. Through data-driven insights, the study examines their preferred work environments, learning expectations, growth motivations, and the evolving factors that shape their career decisions. The findings help organizations understand how to engage, support, and retain Gen Z talent more effectively</a:t>
            </a:r>
          </a:p>
        </p:txBody>
      </p:sp>
      <p:pic>
        <p:nvPicPr>
          <p:cNvPr id="8" name="Picture Placeholder 7">
            <a:extLst>
              <a:ext uri="{FF2B5EF4-FFF2-40B4-BE49-F238E27FC236}">
                <a16:creationId xmlns:a16="http://schemas.microsoft.com/office/drawing/2014/main" id="{111505DB-A990-E3B3-A5E0-75CD9E9DD623}"/>
              </a:ext>
            </a:extLst>
          </p:cNvPr>
          <p:cNvPicPr>
            <a:picLocks noGrp="1" noChangeAspect="1"/>
          </p:cNvPicPr>
          <p:nvPr>
            <p:ph type="pic" sz="quarter" idx="11"/>
          </p:nvPr>
        </p:nvPicPr>
        <p:blipFill>
          <a:blip r:embed="rId2"/>
          <a:srcRect t="12330" b="12330"/>
          <a:stretch>
            <a:fillRect/>
          </a:stretch>
        </p:blipFill>
        <p:spPr>
          <a:xfrm>
            <a:off x="5260975" y="2941638"/>
            <a:ext cx="6931025" cy="3916362"/>
          </a:xfrm>
        </p:spPr>
      </p:pic>
    </p:spTree>
    <p:extLst>
      <p:ext uri="{BB962C8B-B14F-4D97-AF65-F5344CB8AC3E}">
        <p14:creationId xmlns:p14="http://schemas.microsoft.com/office/powerpoint/2010/main" val="174652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4DAF-F207-3061-24D6-6AFF552418DC}"/>
              </a:ext>
            </a:extLst>
          </p:cNvPr>
          <p:cNvSpPr>
            <a:spLocks noGrp="1"/>
          </p:cNvSpPr>
          <p:nvPr>
            <p:ph type="title"/>
          </p:nvPr>
        </p:nvSpPr>
        <p:spPr>
          <a:xfrm>
            <a:off x="841248" y="841248"/>
            <a:ext cx="10479024" cy="557784"/>
          </a:xfrm>
        </p:spPr>
        <p:txBody>
          <a:bodyPr/>
          <a:lstStyle/>
          <a:p>
            <a:r>
              <a:rPr lang="en-US" dirty="0"/>
              <a:t>THE PROBLEM STATEMENT</a:t>
            </a:r>
            <a:br>
              <a:rPr lang="en-US" dirty="0"/>
            </a:br>
            <a:endParaRPr lang="en-US" dirty="0"/>
          </a:p>
        </p:txBody>
      </p:sp>
      <p:sp>
        <p:nvSpPr>
          <p:cNvPr id="4" name="Slide Number Placeholder 3">
            <a:extLst>
              <a:ext uri="{FF2B5EF4-FFF2-40B4-BE49-F238E27FC236}">
                <a16:creationId xmlns:a16="http://schemas.microsoft.com/office/drawing/2014/main" id="{D04F9477-0E09-541A-1BEE-18EAF43FE06E}"/>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4</a:t>
            </a:fld>
            <a:endParaRPr lang="en-US" dirty="0"/>
          </a:p>
        </p:txBody>
      </p:sp>
      <p:sp>
        <p:nvSpPr>
          <p:cNvPr id="3" name="Content Placeholder 2">
            <a:extLst>
              <a:ext uri="{FF2B5EF4-FFF2-40B4-BE49-F238E27FC236}">
                <a16:creationId xmlns:a16="http://schemas.microsoft.com/office/drawing/2014/main" id="{2E70DAFA-36D6-1053-35A5-85C61C1D9F09}"/>
              </a:ext>
            </a:extLst>
          </p:cNvPr>
          <p:cNvSpPr>
            <a:spLocks noGrp="1"/>
          </p:cNvSpPr>
          <p:nvPr>
            <p:ph sz="quarter" idx="13"/>
          </p:nvPr>
        </p:nvSpPr>
        <p:spPr>
          <a:xfrm>
            <a:off x="841375" y="1838739"/>
            <a:ext cx="10076561" cy="4177886"/>
          </a:xfrm>
        </p:spPr>
        <p:txBody>
          <a:bodyPr rtlCol="0">
            <a:normAutofit/>
          </a:bodyPr>
          <a:lstStyle/>
          <a:p>
            <a:pPr marL="0" indent="0" eaLnBrk="1" fontAlgn="auto" hangingPunct="1">
              <a:spcAft>
                <a:spcPts val="0"/>
              </a:spcAft>
              <a:buFont typeface="Arial" panose="020B0604020202020204" pitchFamily="34" charset="0"/>
              <a:buNone/>
              <a:defRPr/>
            </a:pPr>
            <a:r>
              <a:rPr lang="en-US" sz="1800" b="1" u="sng" dirty="0"/>
              <a:t>Understanding Career Aspirations of Gen-Z</a:t>
            </a:r>
          </a:p>
          <a:p>
            <a:pPr marL="0" indent="0" eaLnBrk="1" fontAlgn="auto" hangingPunct="1">
              <a:spcAft>
                <a:spcPts val="0"/>
              </a:spcAft>
              <a:buFont typeface="Arial" panose="020B0604020202020204" pitchFamily="34" charset="0"/>
              <a:buNone/>
              <a:defRPr/>
            </a:pPr>
            <a:endParaRPr lang="en-US" sz="1800" u="sng" dirty="0"/>
          </a:p>
          <a:p>
            <a:pPr marL="342900" indent="-342900" eaLnBrk="1" fontAlgn="auto" hangingPunct="1">
              <a:spcAft>
                <a:spcPts val="0"/>
              </a:spcAft>
              <a:buFont typeface="+mj-lt"/>
              <a:buAutoNum type="arabicPeriod"/>
              <a:defRPr/>
            </a:pPr>
            <a:r>
              <a:rPr lang="en-US" sz="1600" dirty="0">
                <a:cs typeface="Arial" panose="020B0604020202020204" pitchFamily="34" charset="0"/>
              </a:rPr>
              <a:t>For this problem statement, we are going to understand about the Career Aspirations of Generation-Z who are going to be the </a:t>
            </a:r>
            <a:r>
              <a:rPr lang="en-US" sz="1600" b="1" dirty="0">
                <a:cs typeface="Arial" panose="020B0604020202020204" pitchFamily="34" charset="0"/>
              </a:rPr>
              <a:t>32% of the total workforce by 2026</a:t>
            </a:r>
            <a:r>
              <a:rPr lang="en-US" sz="1600" dirty="0">
                <a:cs typeface="Arial" panose="020B0604020202020204" pitchFamily="34" charset="0"/>
              </a:rPr>
              <a:t>, their contributions will be huge in the prospect of our countries and world economic growth. </a:t>
            </a:r>
          </a:p>
          <a:p>
            <a:pPr marL="342900" indent="-342900" eaLnBrk="1" fontAlgn="auto" hangingPunct="1">
              <a:spcAft>
                <a:spcPts val="0"/>
              </a:spcAft>
              <a:buFont typeface="+mj-lt"/>
              <a:buAutoNum type="arabicPeriod"/>
              <a:defRPr/>
            </a:pPr>
            <a:r>
              <a:rPr lang="en-US" sz="1600" dirty="0">
                <a:cs typeface="Arial" panose="020B0604020202020204" pitchFamily="34" charset="0"/>
              </a:rPr>
              <a:t>This analytical learning is focused towards understanding the gap which might help the recruiters address and at the same time to have </a:t>
            </a:r>
            <a:r>
              <a:rPr lang="en-US" sz="1600">
                <a:cs typeface="Arial" panose="020B0604020202020204" pitchFamily="34" charset="0"/>
              </a:rPr>
              <a:t>right people </a:t>
            </a:r>
            <a:r>
              <a:rPr lang="en-US" sz="1600" dirty="0">
                <a:cs typeface="Arial" panose="020B0604020202020204" pitchFamily="34" charset="0"/>
              </a:rPr>
              <a:t>on board.</a:t>
            </a:r>
          </a:p>
          <a:p>
            <a:pPr marL="342900" indent="-342900" eaLnBrk="1" fontAlgn="auto" hangingPunct="1">
              <a:spcAft>
                <a:spcPts val="0"/>
              </a:spcAft>
              <a:buFont typeface="+mj-lt"/>
              <a:buAutoNum type="arabicPeriod"/>
              <a:defRPr/>
            </a:pPr>
            <a:r>
              <a:rPr lang="en-US" sz="1600" dirty="0">
                <a:cs typeface="Arial" panose="020B0604020202020204" pitchFamily="34" charset="0"/>
              </a:rPr>
              <a:t>Few articles for a small minutia:</a:t>
            </a:r>
          </a:p>
          <a:p>
            <a:pPr marL="0" indent="0" eaLnBrk="1" fontAlgn="auto" hangingPunct="1">
              <a:spcAft>
                <a:spcPts val="0"/>
              </a:spcAft>
              <a:buFont typeface="Arial" panose="020B0604020202020204" pitchFamily="34" charset="0"/>
              <a:buNone/>
              <a:defRPr/>
            </a:pPr>
            <a:r>
              <a:rPr lang="en-US" sz="1600" dirty="0">
                <a:cs typeface="Arial" panose="020B0604020202020204" pitchFamily="34" charset="0"/>
                <a:hlinkClick r:id="rId2"/>
              </a:rPr>
              <a:t>https://www.workdesign.com/2022/08/authentically-gen-z-the-values-aspirations-drivers-that-will-re-define-the-future-of-work/</a:t>
            </a:r>
            <a:endParaRPr lang="en-US" sz="1600" dirty="0">
              <a:cs typeface="Arial" panose="020B0604020202020204" pitchFamily="34" charset="0"/>
            </a:endParaRPr>
          </a:p>
          <a:p>
            <a:pPr marL="0" indent="0" eaLnBrk="1" fontAlgn="auto" hangingPunct="1">
              <a:spcAft>
                <a:spcPts val="0"/>
              </a:spcAft>
              <a:buFont typeface="Arial" panose="020B0604020202020204" pitchFamily="34" charset="0"/>
              <a:buNone/>
              <a:defRPr/>
            </a:pPr>
            <a:r>
              <a:rPr lang="en-US" sz="1600" dirty="0">
                <a:cs typeface="Arial" panose="020B0604020202020204" pitchFamily="34" charset="0"/>
              </a:rPr>
              <a:t>https://hbr.org/2023/01/helping-gen-z-employees-find-their-place-at-work</a:t>
            </a:r>
          </a:p>
          <a:p>
            <a:pPr eaLnBrk="1" fontAlgn="auto" hangingPunct="1">
              <a:spcAft>
                <a:spcPts val="0"/>
              </a:spcAft>
              <a:defRPr/>
            </a:pPr>
            <a:endParaRPr lang="en-US" sz="1800" dirty="0">
              <a:latin typeface="Arial" panose="020B0604020202020204" pitchFamily="34" charset="0"/>
              <a:cs typeface="Arial" panose="020B0604020202020204" pitchFamily="34" charset="0"/>
            </a:endParaRPr>
          </a:p>
          <a:p>
            <a:pPr marL="0" indent="0" eaLnBrk="1" fontAlgn="auto" hangingPunct="1">
              <a:spcAft>
                <a:spcPts val="0"/>
              </a:spcAft>
              <a:buFont typeface="Arial" panose="020B0604020202020204" pitchFamily="34" charset="0"/>
              <a:buNone/>
              <a:defRPr/>
            </a:pPr>
            <a:endParaRPr lang="en-US" sz="1800" u="sng" dirty="0"/>
          </a:p>
        </p:txBody>
      </p:sp>
    </p:spTree>
    <p:extLst>
      <p:ext uri="{BB962C8B-B14F-4D97-AF65-F5344CB8AC3E}">
        <p14:creationId xmlns:p14="http://schemas.microsoft.com/office/powerpoint/2010/main" val="368847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9DE737E-A5E3-2825-5E64-295E77A17A7F}"/>
              </a:ext>
            </a:extLst>
          </p:cNvPr>
          <p:cNvSpPr>
            <a:spLocks noGrp="1"/>
          </p:cNvSpPr>
          <p:nvPr>
            <p:ph type="title"/>
          </p:nvPr>
        </p:nvSpPr>
        <p:spPr/>
        <p:txBody>
          <a:bodyPr/>
          <a:lstStyle/>
          <a:p>
            <a:r>
              <a:rPr lang="en-IN" dirty="0"/>
              <a:t>PROJECT FLOW</a:t>
            </a:r>
          </a:p>
        </p:txBody>
      </p:sp>
      <p:sp>
        <p:nvSpPr>
          <p:cNvPr id="9" name="Oval 8">
            <a:extLst>
              <a:ext uri="{FF2B5EF4-FFF2-40B4-BE49-F238E27FC236}">
                <a16:creationId xmlns:a16="http://schemas.microsoft.com/office/drawing/2014/main" id="{AACBF643-7592-4C81-6BF4-ACA9976EFE97}"/>
              </a:ext>
            </a:extLst>
          </p:cNvPr>
          <p:cNvSpPr/>
          <p:nvPr/>
        </p:nvSpPr>
        <p:spPr>
          <a:xfrm>
            <a:off x="1262270" y="1789043"/>
            <a:ext cx="2226365" cy="113306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lt1"/>
              </a:solidFill>
            </a:endParaRPr>
          </a:p>
        </p:txBody>
      </p:sp>
      <p:sp>
        <p:nvSpPr>
          <p:cNvPr id="10" name="Oval 9">
            <a:extLst>
              <a:ext uri="{FF2B5EF4-FFF2-40B4-BE49-F238E27FC236}">
                <a16:creationId xmlns:a16="http://schemas.microsoft.com/office/drawing/2014/main" id="{B2215AAE-9F91-F238-7E25-C29C0B59F2A6}"/>
              </a:ext>
            </a:extLst>
          </p:cNvPr>
          <p:cNvSpPr/>
          <p:nvPr/>
        </p:nvSpPr>
        <p:spPr>
          <a:xfrm>
            <a:off x="4664766" y="1712843"/>
            <a:ext cx="2226365" cy="113306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1" name="Oval 10">
            <a:extLst>
              <a:ext uri="{FF2B5EF4-FFF2-40B4-BE49-F238E27FC236}">
                <a16:creationId xmlns:a16="http://schemas.microsoft.com/office/drawing/2014/main" id="{C8F31711-774D-D2CC-4CBA-E9BF4850418A}"/>
              </a:ext>
            </a:extLst>
          </p:cNvPr>
          <p:cNvSpPr/>
          <p:nvPr/>
        </p:nvSpPr>
        <p:spPr>
          <a:xfrm>
            <a:off x="8067262" y="1636643"/>
            <a:ext cx="2226365" cy="113306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Oval 11">
            <a:extLst>
              <a:ext uri="{FF2B5EF4-FFF2-40B4-BE49-F238E27FC236}">
                <a16:creationId xmlns:a16="http://schemas.microsoft.com/office/drawing/2014/main" id="{A04CF6F5-B790-5397-7B77-011DD43B852D}"/>
              </a:ext>
            </a:extLst>
          </p:cNvPr>
          <p:cNvSpPr/>
          <p:nvPr/>
        </p:nvSpPr>
        <p:spPr>
          <a:xfrm>
            <a:off x="1461052" y="4247321"/>
            <a:ext cx="2226365" cy="113306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 name="Oval 12">
            <a:extLst>
              <a:ext uri="{FF2B5EF4-FFF2-40B4-BE49-F238E27FC236}">
                <a16:creationId xmlns:a16="http://schemas.microsoft.com/office/drawing/2014/main" id="{55D2CF3E-CEA1-208E-737B-645AF1CB1BCE}"/>
              </a:ext>
            </a:extLst>
          </p:cNvPr>
          <p:cNvSpPr/>
          <p:nvPr/>
        </p:nvSpPr>
        <p:spPr>
          <a:xfrm>
            <a:off x="4833731" y="4118112"/>
            <a:ext cx="2226365" cy="113306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 name="Oval 13">
            <a:extLst>
              <a:ext uri="{FF2B5EF4-FFF2-40B4-BE49-F238E27FC236}">
                <a16:creationId xmlns:a16="http://schemas.microsoft.com/office/drawing/2014/main" id="{5CAADA25-5086-1177-FBE4-C7AE365ECDCF}"/>
              </a:ext>
            </a:extLst>
          </p:cNvPr>
          <p:cNvSpPr/>
          <p:nvPr/>
        </p:nvSpPr>
        <p:spPr>
          <a:xfrm>
            <a:off x="8275984" y="4118112"/>
            <a:ext cx="2226365" cy="1133061"/>
          </a:xfrm>
          <a:prstGeom prst="ellipse">
            <a:avLst/>
          </a:prstGeom>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6" name="Graphic 15" descr="Arrow: Slight curve with solid fill">
            <a:extLst>
              <a:ext uri="{FF2B5EF4-FFF2-40B4-BE49-F238E27FC236}">
                <a16:creationId xmlns:a16="http://schemas.microsoft.com/office/drawing/2014/main" id="{659E70CF-7980-0621-0461-3B8F4AC9322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19500" y="1844172"/>
            <a:ext cx="914400" cy="914400"/>
          </a:xfrm>
          <a:prstGeom prst="rect">
            <a:avLst/>
          </a:prstGeom>
        </p:spPr>
      </p:pic>
      <p:pic>
        <p:nvPicPr>
          <p:cNvPr id="19" name="Graphic 18" descr="Arrow: Slight curve with solid fill">
            <a:extLst>
              <a:ext uri="{FF2B5EF4-FFF2-40B4-BE49-F238E27FC236}">
                <a16:creationId xmlns:a16="http://schemas.microsoft.com/office/drawing/2014/main" id="{C4B893B4-4D52-0839-FCBF-2B8987E9D1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21996" y="1854112"/>
            <a:ext cx="914400" cy="914400"/>
          </a:xfrm>
          <a:prstGeom prst="rect">
            <a:avLst/>
          </a:prstGeom>
        </p:spPr>
      </p:pic>
      <p:pic>
        <p:nvPicPr>
          <p:cNvPr id="21" name="Graphic 20" descr="Back with solid fill">
            <a:extLst>
              <a:ext uri="{FF2B5EF4-FFF2-40B4-BE49-F238E27FC236}">
                <a16:creationId xmlns:a16="http://schemas.microsoft.com/office/drawing/2014/main" id="{9DC841B2-81E6-CACE-02E9-318198B4CE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92010" y="4227442"/>
            <a:ext cx="914400" cy="914400"/>
          </a:xfrm>
          <a:prstGeom prst="rect">
            <a:avLst/>
          </a:prstGeom>
        </p:spPr>
      </p:pic>
      <p:pic>
        <p:nvPicPr>
          <p:cNvPr id="22" name="Graphic 21" descr="Back with solid fill">
            <a:extLst>
              <a:ext uri="{FF2B5EF4-FFF2-40B4-BE49-F238E27FC236}">
                <a16:creationId xmlns:a16="http://schemas.microsoft.com/office/drawing/2014/main" id="{14CCB137-AB0C-185F-47CE-18F4798511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77699" y="4247321"/>
            <a:ext cx="914400" cy="914400"/>
          </a:xfrm>
          <a:prstGeom prst="rect">
            <a:avLst/>
          </a:prstGeom>
        </p:spPr>
      </p:pic>
      <p:pic>
        <p:nvPicPr>
          <p:cNvPr id="24" name="Graphic 23" descr="Arrow: Rotate right with solid fill">
            <a:extLst>
              <a:ext uri="{FF2B5EF4-FFF2-40B4-BE49-F238E27FC236}">
                <a16:creationId xmlns:a16="http://schemas.microsoft.com/office/drawing/2014/main" id="{F3CE7FB7-6310-498D-DB67-FDC3A84AA6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77126" y="3208178"/>
            <a:ext cx="914400" cy="914400"/>
          </a:xfrm>
          <a:prstGeom prst="rect">
            <a:avLst/>
          </a:prstGeom>
        </p:spPr>
      </p:pic>
      <p:grpSp>
        <p:nvGrpSpPr>
          <p:cNvPr id="6162" name="Group 6">
            <a:extLst>
              <a:ext uri="{FF2B5EF4-FFF2-40B4-BE49-F238E27FC236}">
                <a16:creationId xmlns:a16="http://schemas.microsoft.com/office/drawing/2014/main" id="{3CE5CD66-5AE0-1FD0-157B-B31C425F6629}"/>
              </a:ext>
            </a:extLst>
          </p:cNvPr>
          <p:cNvGrpSpPr>
            <a:grpSpLocks/>
          </p:cNvGrpSpPr>
          <p:nvPr/>
        </p:nvGrpSpPr>
        <p:grpSpPr bwMode="auto">
          <a:xfrm>
            <a:off x="482601" y="3012591"/>
            <a:ext cx="2803525" cy="733425"/>
            <a:chOff x="5671956" y="4920170"/>
            <a:chExt cx="2291246" cy="733663"/>
          </a:xfrm>
        </p:grpSpPr>
        <p:sp>
          <p:nvSpPr>
            <p:cNvPr id="6173" name="TextBox 29">
              <a:extLst>
                <a:ext uri="{FF2B5EF4-FFF2-40B4-BE49-F238E27FC236}">
                  <a16:creationId xmlns:a16="http://schemas.microsoft.com/office/drawing/2014/main" id="{8A63CE80-2118-DD1D-72AD-90418A4543F1}"/>
                </a:ext>
              </a:extLst>
            </p:cNvPr>
            <p:cNvSpPr txBox="1">
              <a:spLocks noChangeArrowheads="1"/>
            </p:cNvSpPr>
            <p:nvPr/>
          </p:nvSpPr>
          <p:spPr bwMode="auto">
            <a:xfrm>
              <a:off x="5671956" y="4920170"/>
              <a:ext cx="22214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ko-KR" sz="1600" b="1" u="sng" dirty="0">
                  <a:solidFill>
                    <a:schemeClr val="accent6">
                      <a:lumMod val="60000"/>
                      <a:lumOff val="40000"/>
                    </a:schemeClr>
                  </a:solidFill>
                  <a:cs typeface="Arial" panose="020B0604020202020204" pitchFamily="34" charset="0"/>
                </a:rPr>
                <a:t>Problem Statement</a:t>
              </a:r>
              <a:endParaRPr lang="ko-KR" altLang="en-US" sz="1600" b="1" u="sng" dirty="0">
                <a:solidFill>
                  <a:schemeClr val="accent6">
                    <a:lumMod val="60000"/>
                    <a:lumOff val="40000"/>
                  </a:schemeClr>
                </a:solidFill>
                <a:cs typeface="Arial" panose="020B0604020202020204" pitchFamily="34" charset="0"/>
              </a:endParaRPr>
            </a:p>
          </p:txBody>
        </p:sp>
        <p:sp>
          <p:nvSpPr>
            <p:cNvPr id="31" name="TextBox 30">
              <a:extLst>
                <a:ext uri="{FF2B5EF4-FFF2-40B4-BE49-F238E27FC236}">
                  <a16:creationId xmlns:a16="http://schemas.microsoft.com/office/drawing/2014/main" id="{49662981-CA63-7054-37ED-75E84EE23C21}"/>
                </a:ext>
              </a:extLst>
            </p:cNvPr>
            <p:cNvSpPr txBox="1"/>
            <p:nvPr/>
          </p:nvSpPr>
          <p:spPr>
            <a:xfrm>
              <a:off x="5671956" y="5191720"/>
              <a:ext cx="2291246" cy="462113"/>
            </a:xfrm>
            <a:prstGeom prst="rect">
              <a:avLst/>
            </a:prstGeom>
            <a:noFill/>
          </p:spPr>
          <p:txBody>
            <a:bodyPr>
              <a:spAutoFit/>
            </a:bodyPr>
            <a:lstStyle/>
            <a:p>
              <a:pPr algn="r" eaLnBrk="1" fontAlgn="auto" hangingPunct="1">
                <a:spcBef>
                  <a:spcPts val="0"/>
                </a:spcBef>
                <a:spcAft>
                  <a:spcPts val="0"/>
                </a:spcAft>
                <a:defRPr/>
              </a:pPr>
              <a:r>
                <a:rPr lang="en-US" altLang="ko-KR" sz="1200" dirty="0">
                  <a:solidFill>
                    <a:schemeClr val="bg1"/>
                  </a:solidFill>
                  <a:latin typeface="+mn-lt"/>
                  <a:cs typeface="Arial" pitchFamily="34" charset="0"/>
                </a:rPr>
                <a:t>Understanding the key problem which need to be addressed</a:t>
              </a:r>
              <a:endParaRPr lang="ko-KR" altLang="en-US" sz="1200" dirty="0">
                <a:solidFill>
                  <a:schemeClr val="bg1"/>
                </a:solidFill>
                <a:latin typeface="+mn-lt"/>
                <a:cs typeface="Arial" pitchFamily="34" charset="0"/>
              </a:endParaRPr>
            </a:p>
          </p:txBody>
        </p:sp>
      </p:grpSp>
      <p:grpSp>
        <p:nvGrpSpPr>
          <p:cNvPr id="6159" name="Group 7">
            <a:extLst>
              <a:ext uri="{FF2B5EF4-FFF2-40B4-BE49-F238E27FC236}">
                <a16:creationId xmlns:a16="http://schemas.microsoft.com/office/drawing/2014/main" id="{5A59FD6B-C934-CF99-70E9-3001E07C1599}"/>
              </a:ext>
            </a:extLst>
          </p:cNvPr>
          <p:cNvGrpSpPr>
            <a:grpSpLocks/>
          </p:cNvGrpSpPr>
          <p:nvPr/>
        </p:nvGrpSpPr>
        <p:grpSpPr bwMode="auto">
          <a:xfrm>
            <a:off x="4533900" y="2917455"/>
            <a:ext cx="2827338" cy="1017290"/>
            <a:chOff x="6821698" y="4192882"/>
            <a:chExt cx="2291246" cy="497869"/>
          </a:xfrm>
        </p:grpSpPr>
        <p:sp>
          <p:nvSpPr>
            <p:cNvPr id="6179" name="TextBox 42">
              <a:extLst>
                <a:ext uri="{FF2B5EF4-FFF2-40B4-BE49-F238E27FC236}">
                  <a16:creationId xmlns:a16="http://schemas.microsoft.com/office/drawing/2014/main" id="{7F7115F7-18D8-312E-2E19-F2C328434CBB}"/>
                </a:ext>
              </a:extLst>
            </p:cNvPr>
            <p:cNvSpPr txBox="1">
              <a:spLocks noChangeArrowheads="1"/>
            </p:cNvSpPr>
            <p:nvPr/>
          </p:nvSpPr>
          <p:spPr bwMode="auto">
            <a:xfrm>
              <a:off x="6821698" y="4192882"/>
              <a:ext cx="2291246" cy="28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ko-KR" sz="1600" b="1" u="sng" dirty="0">
                  <a:solidFill>
                    <a:schemeClr val="accent6">
                      <a:lumMod val="60000"/>
                      <a:lumOff val="40000"/>
                    </a:schemeClr>
                  </a:solidFill>
                  <a:cs typeface="Arial" panose="020B0604020202020204" pitchFamily="34" charset="0"/>
                </a:rPr>
                <a:t>Creating Business Research Document</a:t>
              </a:r>
              <a:endParaRPr lang="ko-KR" altLang="en-US" sz="1600" b="1" u="sng" dirty="0">
                <a:solidFill>
                  <a:schemeClr val="accent6">
                    <a:lumMod val="60000"/>
                    <a:lumOff val="40000"/>
                  </a:schemeClr>
                </a:solidFill>
                <a:cs typeface="Arial" panose="020B0604020202020204" pitchFamily="34" charset="0"/>
              </a:endParaRPr>
            </a:p>
          </p:txBody>
        </p:sp>
        <p:sp>
          <p:nvSpPr>
            <p:cNvPr id="44" name="TextBox 43">
              <a:extLst>
                <a:ext uri="{FF2B5EF4-FFF2-40B4-BE49-F238E27FC236}">
                  <a16:creationId xmlns:a16="http://schemas.microsoft.com/office/drawing/2014/main" id="{8A833337-1FD1-2A94-8BB3-B6A7AB76BD43}"/>
                </a:ext>
              </a:extLst>
            </p:cNvPr>
            <p:cNvSpPr txBox="1"/>
            <p:nvPr/>
          </p:nvSpPr>
          <p:spPr>
            <a:xfrm>
              <a:off x="6821698" y="4464809"/>
              <a:ext cx="2291246" cy="225942"/>
            </a:xfrm>
            <a:prstGeom prst="rect">
              <a:avLst/>
            </a:prstGeom>
            <a:noFill/>
          </p:spPr>
          <p:txBody>
            <a:bodyPr>
              <a:spAutoFit/>
            </a:bodyPr>
            <a:lstStyle/>
            <a:p>
              <a:pPr eaLnBrk="1" fontAlgn="auto" hangingPunct="1">
                <a:spcBef>
                  <a:spcPts val="0"/>
                </a:spcBef>
                <a:spcAft>
                  <a:spcPts val="0"/>
                </a:spcAft>
                <a:defRPr/>
              </a:pPr>
              <a:r>
                <a:rPr lang="en-US" altLang="ko-KR" sz="1200" dirty="0">
                  <a:solidFill>
                    <a:schemeClr val="bg1"/>
                  </a:solidFill>
                  <a:latin typeface="+mn-lt"/>
                  <a:cs typeface="Arial" pitchFamily="34" charset="0"/>
                </a:rPr>
                <a:t>Knowing who all are involved in </a:t>
              </a:r>
              <a:r>
                <a:rPr lang="en-US" altLang="ko-KR" sz="1200" dirty="0" err="1">
                  <a:solidFill>
                    <a:schemeClr val="bg1"/>
                  </a:solidFill>
                  <a:latin typeface="+mn-lt"/>
                  <a:cs typeface="Arial" pitchFamily="34" charset="0"/>
                </a:rPr>
                <a:t>i.e</a:t>
              </a:r>
              <a:r>
                <a:rPr lang="en-US" altLang="ko-KR" sz="1200" dirty="0">
                  <a:solidFill>
                    <a:schemeClr val="bg1"/>
                  </a:solidFill>
                  <a:latin typeface="+mn-lt"/>
                  <a:cs typeface="Arial" pitchFamily="34" charset="0"/>
                </a:rPr>
                <a:t>, Key stakeholders</a:t>
              </a:r>
              <a:endParaRPr lang="ko-KR" altLang="en-US" sz="1200" dirty="0">
                <a:solidFill>
                  <a:schemeClr val="bg1"/>
                </a:solidFill>
                <a:latin typeface="+mn-lt"/>
                <a:cs typeface="Arial" pitchFamily="34" charset="0"/>
              </a:endParaRPr>
            </a:p>
          </p:txBody>
        </p:sp>
      </p:grpSp>
      <p:grpSp>
        <p:nvGrpSpPr>
          <p:cNvPr id="6169" name="Group 8">
            <a:extLst>
              <a:ext uri="{FF2B5EF4-FFF2-40B4-BE49-F238E27FC236}">
                <a16:creationId xmlns:a16="http://schemas.microsoft.com/office/drawing/2014/main" id="{3250AEC6-1100-D866-5DAD-EACFC6549984}"/>
              </a:ext>
            </a:extLst>
          </p:cNvPr>
          <p:cNvGrpSpPr>
            <a:grpSpLocks/>
          </p:cNvGrpSpPr>
          <p:nvPr/>
        </p:nvGrpSpPr>
        <p:grpSpPr bwMode="auto">
          <a:xfrm>
            <a:off x="8246096" y="2747098"/>
            <a:ext cx="2857225" cy="568706"/>
            <a:chOff x="6363797" y="3388129"/>
            <a:chExt cx="2019362" cy="568418"/>
          </a:xfrm>
        </p:grpSpPr>
        <p:sp>
          <p:nvSpPr>
            <p:cNvPr id="6171" name="TextBox 54">
              <a:extLst>
                <a:ext uri="{FF2B5EF4-FFF2-40B4-BE49-F238E27FC236}">
                  <a16:creationId xmlns:a16="http://schemas.microsoft.com/office/drawing/2014/main" id="{38ED64AB-55D1-1693-DDA1-FDF369E9E8BF}"/>
                </a:ext>
              </a:extLst>
            </p:cNvPr>
            <p:cNvSpPr txBox="1">
              <a:spLocks noChangeArrowheads="1"/>
            </p:cNvSpPr>
            <p:nvPr/>
          </p:nvSpPr>
          <p:spPr bwMode="auto">
            <a:xfrm>
              <a:off x="6363797" y="3388129"/>
              <a:ext cx="19982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ko-KR" sz="1600" b="1" u="sng" dirty="0">
                  <a:solidFill>
                    <a:schemeClr val="accent6">
                      <a:lumMod val="60000"/>
                      <a:lumOff val="40000"/>
                    </a:schemeClr>
                  </a:solidFill>
                  <a:cs typeface="Arial" panose="020B0604020202020204" pitchFamily="34" charset="0"/>
                </a:rPr>
                <a:t>Data Collection</a:t>
              </a:r>
              <a:endParaRPr lang="ko-KR" altLang="en-US" sz="1600" b="1" u="sng" dirty="0">
                <a:solidFill>
                  <a:schemeClr val="accent6">
                    <a:lumMod val="60000"/>
                    <a:lumOff val="40000"/>
                  </a:schemeClr>
                </a:solidFill>
                <a:cs typeface="Arial" panose="020B0604020202020204" pitchFamily="34" charset="0"/>
              </a:endParaRPr>
            </a:p>
          </p:txBody>
        </p:sp>
        <p:sp>
          <p:nvSpPr>
            <p:cNvPr id="56" name="TextBox 55">
              <a:extLst>
                <a:ext uri="{FF2B5EF4-FFF2-40B4-BE49-F238E27FC236}">
                  <a16:creationId xmlns:a16="http://schemas.microsoft.com/office/drawing/2014/main" id="{9C8FE643-53DE-D496-6C5F-70CD0253FFB3}"/>
                </a:ext>
              </a:extLst>
            </p:cNvPr>
            <p:cNvSpPr txBox="1"/>
            <p:nvPr/>
          </p:nvSpPr>
          <p:spPr>
            <a:xfrm>
              <a:off x="6384920" y="3678876"/>
              <a:ext cx="1998239" cy="277671"/>
            </a:xfrm>
            <a:prstGeom prst="rect">
              <a:avLst/>
            </a:prstGeom>
            <a:noFill/>
          </p:spPr>
          <p:txBody>
            <a:bodyPr>
              <a:spAutoFit/>
            </a:bodyPr>
            <a:lstStyle/>
            <a:p>
              <a:pPr eaLnBrk="1" fontAlgn="auto" hangingPunct="1">
                <a:spcBef>
                  <a:spcPts val="0"/>
                </a:spcBef>
                <a:spcAft>
                  <a:spcPts val="0"/>
                </a:spcAft>
                <a:defRPr/>
              </a:pPr>
              <a:r>
                <a:rPr lang="en-US" altLang="ko-KR" sz="1200" dirty="0">
                  <a:solidFill>
                    <a:schemeClr val="bg1"/>
                  </a:solidFill>
                  <a:latin typeface="+mn-lt"/>
                  <a:cs typeface="Arial" pitchFamily="34" charset="0"/>
                </a:rPr>
                <a:t>Different methods used to collect Data</a:t>
              </a:r>
              <a:endParaRPr lang="ko-KR" altLang="en-US" sz="1200" dirty="0">
                <a:solidFill>
                  <a:schemeClr val="bg1"/>
                </a:solidFill>
                <a:latin typeface="+mn-lt"/>
                <a:cs typeface="Arial" pitchFamily="34" charset="0"/>
              </a:endParaRPr>
            </a:p>
          </p:txBody>
        </p:sp>
      </p:grpSp>
      <p:grpSp>
        <p:nvGrpSpPr>
          <p:cNvPr id="6158" name="Group 9">
            <a:extLst>
              <a:ext uri="{FF2B5EF4-FFF2-40B4-BE49-F238E27FC236}">
                <a16:creationId xmlns:a16="http://schemas.microsoft.com/office/drawing/2014/main" id="{2D2EB5DA-0F1D-A231-B0D7-7836B9E94B2F}"/>
              </a:ext>
            </a:extLst>
          </p:cNvPr>
          <p:cNvGrpSpPr>
            <a:grpSpLocks/>
          </p:cNvGrpSpPr>
          <p:nvPr/>
        </p:nvGrpSpPr>
        <p:grpSpPr bwMode="auto">
          <a:xfrm>
            <a:off x="8407400" y="5380382"/>
            <a:ext cx="2828925" cy="547687"/>
            <a:chOff x="1661207" y="1253957"/>
            <a:chExt cx="2291246" cy="548997"/>
          </a:xfrm>
        </p:grpSpPr>
        <p:sp>
          <p:nvSpPr>
            <p:cNvPr id="6181" name="TextBox 48">
              <a:extLst>
                <a:ext uri="{FF2B5EF4-FFF2-40B4-BE49-F238E27FC236}">
                  <a16:creationId xmlns:a16="http://schemas.microsoft.com/office/drawing/2014/main" id="{035D0D3F-78A3-4519-21F6-5E9EDACAFEDF}"/>
                </a:ext>
              </a:extLst>
            </p:cNvPr>
            <p:cNvSpPr txBox="1">
              <a:spLocks noChangeArrowheads="1"/>
            </p:cNvSpPr>
            <p:nvPr/>
          </p:nvSpPr>
          <p:spPr bwMode="auto">
            <a:xfrm>
              <a:off x="1661207" y="1253957"/>
              <a:ext cx="22912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ko-KR" sz="1600" b="1" u="sng" dirty="0">
                  <a:solidFill>
                    <a:schemeClr val="accent6">
                      <a:lumMod val="60000"/>
                      <a:lumOff val="40000"/>
                    </a:schemeClr>
                  </a:solidFill>
                  <a:cs typeface="Arial" panose="020B0604020202020204" pitchFamily="34" charset="0"/>
                </a:rPr>
                <a:t>Data Analysis using SQL</a:t>
              </a:r>
              <a:endParaRPr lang="ko-KR" altLang="en-US" sz="1600" b="1" u="sng" dirty="0">
                <a:solidFill>
                  <a:schemeClr val="accent6">
                    <a:lumMod val="60000"/>
                    <a:lumOff val="40000"/>
                  </a:schemeClr>
                </a:solidFill>
                <a:cs typeface="Arial" panose="020B0604020202020204" pitchFamily="34" charset="0"/>
              </a:endParaRPr>
            </a:p>
          </p:txBody>
        </p:sp>
        <p:sp>
          <p:nvSpPr>
            <p:cNvPr id="50" name="TextBox 49">
              <a:extLst>
                <a:ext uri="{FF2B5EF4-FFF2-40B4-BE49-F238E27FC236}">
                  <a16:creationId xmlns:a16="http://schemas.microsoft.com/office/drawing/2014/main" id="{7828075E-9404-06DC-D66D-3983BD7F211F}"/>
                </a:ext>
              </a:extLst>
            </p:cNvPr>
            <p:cNvSpPr txBox="1"/>
            <p:nvPr/>
          </p:nvSpPr>
          <p:spPr>
            <a:xfrm>
              <a:off x="1661207" y="1526068"/>
              <a:ext cx="2291246" cy="276886"/>
            </a:xfrm>
            <a:prstGeom prst="rect">
              <a:avLst/>
            </a:prstGeom>
            <a:noFill/>
          </p:spPr>
          <p:txBody>
            <a:bodyPr>
              <a:spAutoFit/>
            </a:bodyPr>
            <a:lstStyle/>
            <a:p>
              <a:pPr eaLnBrk="1" fontAlgn="auto" hangingPunct="1">
                <a:spcBef>
                  <a:spcPts val="0"/>
                </a:spcBef>
                <a:spcAft>
                  <a:spcPts val="0"/>
                </a:spcAft>
                <a:defRPr/>
              </a:pPr>
              <a:r>
                <a:rPr lang="en-US" altLang="ko-KR" sz="1200" dirty="0">
                  <a:solidFill>
                    <a:schemeClr val="bg1"/>
                  </a:solidFill>
                  <a:latin typeface="+mn-lt"/>
                  <a:cs typeface="Arial" pitchFamily="34" charset="0"/>
                </a:rPr>
                <a:t>Addressing key business Questions</a:t>
              </a:r>
              <a:endParaRPr lang="ko-KR" altLang="en-US" sz="1200" dirty="0">
                <a:solidFill>
                  <a:schemeClr val="bg1"/>
                </a:solidFill>
                <a:latin typeface="+mn-lt"/>
                <a:cs typeface="Arial" pitchFamily="34" charset="0"/>
              </a:endParaRPr>
            </a:p>
          </p:txBody>
        </p:sp>
      </p:grpSp>
      <p:grpSp>
        <p:nvGrpSpPr>
          <p:cNvPr id="6160" name="Group 3">
            <a:extLst>
              <a:ext uri="{FF2B5EF4-FFF2-40B4-BE49-F238E27FC236}">
                <a16:creationId xmlns:a16="http://schemas.microsoft.com/office/drawing/2014/main" id="{7857142A-A4E2-4192-CAA7-27881C3F3E8E}"/>
              </a:ext>
            </a:extLst>
          </p:cNvPr>
          <p:cNvGrpSpPr>
            <a:grpSpLocks/>
          </p:cNvGrpSpPr>
          <p:nvPr/>
        </p:nvGrpSpPr>
        <p:grpSpPr bwMode="auto">
          <a:xfrm>
            <a:off x="4232759" y="5443490"/>
            <a:ext cx="2789237" cy="549275"/>
            <a:chOff x="268950" y="2872996"/>
            <a:chExt cx="2291246" cy="548997"/>
          </a:xfrm>
        </p:grpSpPr>
        <p:sp>
          <p:nvSpPr>
            <p:cNvPr id="6177" name="TextBox 46">
              <a:extLst>
                <a:ext uri="{FF2B5EF4-FFF2-40B4-BE49-F238E27FC236}">
                  <a16:creationId xmlns:a16="http://schemas.microsoft.com/office/drawing/2014/main" id="{3E825278-2B98-E190-0BC1-3D64DEB02781}"/>
                </a:ext>
              </a:extLst>
            </p:cNvPr>
            <p:cNvSpPr txBox="1">
              <a:spLocks noChangeArrowheads="1"/>
            </p:cNvSpPr>
            <p:nvPr/>
          </p:nvSpPr>
          <p:spPr bwMode="auto">
            <a:xfrm>
              <a:off x="268950" y="2872996"/>
              <a:ext cx="22214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ko-KR" sz="1600" b="1" u="sng" dirty="0">
                  <a:solidFill>
                    <a:schemeClr val="accent6">
                      <a:lumMod val="60000"/>
                      <a:lumOff val="40000"/>
                    </a:schemeClr>
                  </a:solidFill>
                  <a:cs typeface="Arial" panose="020B0604020202020204" pitchFamily="34" charset="0"/>
                </a:rPr>
                <a:t>Data Visualization</a:t>
              </a:r>
              <a:endParaRPr lang="ko-KR" altLang="en-US" sz="1600" b="1" u="sng" dirty="0">
                <a:solidFill>
                  <a:schemeClr val="accent6">
                    <a:lumMod val="60000"/>
                    <a:lumOff val="40000"/>
                  </a:schemeClr>
                </a:solidFill>
                <a:cs typeface="Arial" panose="020B0604020202020204" pitchFamily="34" charset="0"/>
              </a:endParaRPr>
            </a:p>
          </p:txBody>
        </p:sp>
        <p:sp>
          <p:nvSpPr>
            <p:cNvPr id="48" name="TextBox 47">
              <a:extLst>
                <a:ext uri="{FF2B5EF4-FFF2-40B4-BE49-F238E27FC236}">
                  <a16:creationId xmlns:a16="http://schemas.microsoft.com/office/drawing/2014/main" id="{2CBF2680-4AF0-B9A0-9B18-0B88C1F246F0}"/>
                </a:ext>
              </a:extLst>
            </p:cNvPr>
            <p:cNvSpPr txBox="1"/>
            <p:nvPr/>
          </p:nvSpPr>
          <p:spPr>
            <a:xfrm>
              <a:off x="268950" y="3144322"/>
              <a:ext cx="2291246" cy="277671"/>
            </a:xfrm>
            <a:prstGeom prst="rect">
              <a:avLst/>
            </a:prstGeom>
            <a:noFill/>
          </p:spPr>
          <p:txBody>
            <a:bodyPr>
              <a:spAutoFit/>
            </a:bodyPr>
            <a:lstStyle/>
            <a:p>
              <a:pPr algn="r" eaLnBrk="1" fontAlgn="auto" hangingPunct="1">
                <a:spcBef>
                  <a:spcPts val="0"/>
                </a:spcBef>
                <a:spcAft>
                  <a:spcPts val="0"/>
                </a:spcAft>
                <a:defRPr/>
              </a:pPr>
              <a:r>
                <a:rPr lang="en-US" altLang="ko-KR" sz="1200" dirty="0">
                  <a:solidFill>
                    <a:schemeClr val="bg1"/>
                  </a:solidFill>
                  <a:latin typeface="+mn-lt"/>
                  <a:cs typeface="Arial" pitchFamily="34" charset="0"/>
                </a:rPr>
                <a:t>Build effect dashboards to visualize it</a:t>
              </a:r>
              <a:endParaRPr lang="ko-KR" altLang="en-US" sz="1200" dirty="0">
                <a:solidFill>
                  <a:schemeClr val="bg1"/>
                </a:solidFill>
                <a:latin typeface="+mn-lt"/>
                <a:cs typeface="Arial" pitchFamily="34" charset="0"/>
              </a:endParaRPr>
            </a:p>
          </p:txBody>
        </p:sp>
      </p:grpSp>
      <p:grpSp>
        <p:nvGrpSpPr>
          <p:cNvPr id="6161" name="Group 4">
            <a:extLst>
              <a:ext uri="{FF2B5EF4-FFF2-40B4-BE49-F238E27FC236}">
                <a16:creationId xmlns:a16="http://schemas.microsoft.com/office/drawing/2014/main" id="{E6A052DE-D26A-FE88-0A04-E3255A89C0E4}"/>
              </a:ext>
            </a:extLst>
          </p:cNvPr>
          <p:cNvGrpSpPr>
            <a:grpSpLocks/>
          </p:cNvGrpSpPr>
          <p:nvPr/>
        </p:nvGrpSpPr>
        <p:grpSpPr bwMode="auto">
          <a:xfrm>
            <a:off x="516975" y="5443492"/>
            <a:ext cx="3388922" cy="546081"/>
            <a:chOff x="16614" y="3712242"/>
            <a:chExt cx="2433488" cy="230866"/>
          </a:xfrm>
        </p:grpSpPr>
        <p:sp>
          <p:nvSpPr>
            <p:cNvPr id="6175" name="TextBox 44">
              <a:extLst>
                <a:ext uri="{FF2B5EF4-FFF2-40B4-BE49-F238E27FC236}">
                  <a16:creationId xmlns:a16="http://schemas.microsoft.com/office/drawing/2014/main" id="{52DE5AB6-2600-0E82-9851-1BBEAD4793AB}"/>
                </a:ext>
              </a:extLst>
            </p:cNvPr>
            <p:cNvSpPr txBox="1">
              <a:spLocks noChangeArrowheads="1"/>
            </p:cNvSpPr>
            <p:nvPr/>
          </p:nvSpPr>
          <p:spPr bwMode="auto">
            <a:xfrm>
              <a:off x="507926" y="3712242"/>
              <a:ext cx="1942176" cy="143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ko-KR" sz="1600" b="1" u="sng" dirty="0">
                  <a:solidFill>
                    <a:schemeClr val="accent6">
                      <a:lumMod val="60000"/>
                      <a:lumOff val="40000"/>
                    </a:schemeClr>
                  </a:solidFill>
                  <a:cs typeface="Arial" panose="020B0604020202020204" pitchFamily="34" charset="0"/>
                </a:rPr>
                <a:t>Insight Generation/ Findings</a:t>
              </a:r>
              <a:endParaRPr lang="ko-KR" altLang="en-US" sz="1600" b="1" u="sng" dirty="0">
                <a:solidFill>
                  <a:schemeClr val="accent6">
                    <a:lumMod val="60000"/>
                    <a:lumOff val="40000"/>
                  </a:schemeClr>
                </a:solidFill>
                <a:cs typeface="Arial" panose="020B0604020202020204" pitchFamily="34" charset="0"/>
              </a:endParaRPr>
            </a:p>
          </p:txBody>
        </p:sp>
        <p:sp>
          <p:nvSpPr>
            <p:cNvPr id="46" name="TextBox 45">
              <a:extLst>
                <a:ext uri="{FF2B5EF4-FFF2-40B4-BE49-F238E27FC236}">
                  <a16:creationId xmlns:a16="http://schemas.microsoft.com/office/drawing/2014/main" id="{CD6BC43E-5309-BD6E-7D41-594289303048}"/>
                </a:ext>
              </a:extLst>
            </p:cNvPr>
            <p:cNvSpPr txBox="1"/>
            <p:nvPr/>
          </p:nvSpPr>
          <p:spPr>
            <a:xfrm>
              <a:off x="16614" y="3826001"/>
              <a:ext cx="2002871" cy="117107"/>
            </a:xfrm>
            <a:prstGeom prst="rect">
              <a:avLst/>
            </a:prstGeom>
            <a:noFill/>
          </p:spPr>
          <p:txBody>
            <a:bodyPr>
              <a:spAutoFit/>
            </a:bodyPr>
            <a:lstStyle/>
            <a:p>
              <a:pPr algn="r" eaLnBrk="1" fontAlgn="auto" hangingPunct="1">
                <a:spcBef>
                  <a:spcPts val="0"/>
                </a:spcBef>
                <a:spcAft>
                  <a:spcPts val="0"/>
                </a:spcAft>
                <a:defRPr/>
              </a:pPr>
              <a:r>
                <a:rPr lang="en-US" altLang="ko-KR" sz="1200" dirty="0">
                  <a:solidFill>
                    <a:schemeClr val="bg1"/>
                  </a:solidFill>
                  <a:latin typeface="+mn-lt"/>
                  <a:cs typeface="Arial" pitchFamily="34" charset="0"/>
                </a:rPr>
                <a:t>Seek Business findings</a:t>
              </a:r>
              <a:endParaRPr lang="ko-KR" altLang="en-US" sz="1200" dirty="0">
                <a:solidFill>
                  <a:schemeClr val="bg1"/>
                </a:solidFill>
                <a:latin typeface="+mn-lt"/>
                <a:cs typeface="Arial" pitchFamily="34" charset="0"/>
              </a:endParaRPr>
            </a:p>
          </p:txBody>
        </p:sp>
      </p:grpSp>
      <p:pic>
        <p:nvPicPr>
          <p:cNvPr id="6163" name="Graphic 31" descr="Badge 1 with solid fill">
            <a:extLst>
              <a:ext uri="{FF2B5EF4-FFF2-40B4-BE49-F238E27FC236}">
                <a16:creationId xmlns:a16="http://schemas.microsoft.com/office/drawing/2014/main" id="{C52BEFAC-A6E2-3906-D007-8FA5D53A52E9}"/>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015933" y="1912054"/>
            <a:ext cx="719037" cy="88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4" name="Graphic 32" descr="Badge with solid fill">
            <a:extLst>
              <a:ext uri="{FF2B5EF4-FFF2-40B4-BE49-F238E27FC236}">
                <a16:creationId xmlns:a16="http://schemas.microsoft.com/office/drawing/2014/main" id="{101B3D0C-E10A-BE7D-75A1-219985DCC8CB}"/>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400035" y="1895650"/>
            <a:ext cx="820820" cy="729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5" name="Graphic 33" descr="Badge 3 with solid fill">
            <a:extLst>
              <a:ext uri="{FF2B5EF4-FFF2-40B4-BE49-F238E27FC236}">
                <a16:creationId xmlns:a16="http://schemas.microsoft.com/office/drawing/2014/main" id="{261480C9-310F-4288-1728-E95CD7464A91}"/>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8848725" y="1860961"/>
            <a:ext cx="737511" cy="74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6" name="Graphic 34" descr="Badge 4 with solid fill">
            <a:extLst>
              <a:ext uri="{FF2B5EF4-FFF2-40B4-BE49-F238E27FC236}">
                <a16:creationId xmlns:a16="http://schemas.microsoft.com/office/drawing/2014/main" id="{69DA55F0-3C91-782F-B9A6-E58D68F23408}"/>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9022610" y="4326485"/>
            <a:ext cx="799375" cy="796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7" name="Graphic 35" descr="Badge 5 with solid fill">
            <a:extLst>
              <a:ext uri="{FF2B5EF4-FFF2-40B4-BE49-F238E27FC236}">
                <a16:creationId xmlns:a16="http://schemas.microsoft.com/office/drawing/2014/main" id="{F21368DC-2EB7-27E6-5636-D50BBDFBD60E}"/>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5638905" y="4326485"/>
            <a:ext cx="733319" cy="74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8" name="Graphic 36" descr="Badge 6 with solid fill">
            <a:extLst>
              <a:ext uri="{FF2B5EF4-FFF2-40B4-BE49-F238E27FC236}">
                <a16:creationId xmlns:a16="http://schemas.microsoft.com/office/drawing/2014/main" id="{3C961F3C-CA4A-E1CD-B0CF-E82524000A27}"/>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195773" y="4391007"/>
            <a:ext cx="732076" cy="73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918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D1FD-9CC8-4CB0-8247-CFAB90695FE8}"/>
              </a:ext>
            </a:extLst>
          </p:cNvPr>
          <p:cNvSpPr>
            <a:spLocks noGrp="1"/>
          </p:cNvSpPr>
          <p:nvPr>
            <p:ph type="title"/>
          </p:nvPr>
        </p:nvSpPr>
        <p:spPr>
          <a:xfrm>
            <a:off x="841248" y="841248"/>
            <a:ext cx="10479024" cy="557784"/>
          </a:xfrm>
        </p:spPr>
        <p:txBody>
          <a:bodyPr/>
          <a:lstStyle/>
          <a:p>
            <a:r>
              <a:rPr lang="en-US" dirty="0"/>
              <a:t>Data collection via Google forms</a:t>
            </a:r>
            <a:br>
              <a:rPr lang="en-US" dirty="0"/>
            </a:br>
            <a:endParaRPr lang="en-US" dirty="0"/>
          </a:p>
        </p:txBody>
      </p:sp>
      <p:sp>
        <p:nvSpPr>
          <p:cNvPr id="4" name="Slide Number Placeholder 3">
            <a:extLst>
              <a:ext uri="{FF2B5EF4-FFF2-40B4-BE49-F238E27FC236}">
                <a16:creationId xmlns:a16="http://schemas.microsoft.com/office/drawing/2014/main" id="{FE7814C5-5D60-0866-7B45-798BC7C8D1CB}"/>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6</a:t>
            </a:fld>
            <a:endParaRPr lang="en-US" dirty="0"/>
          </a:p>
        </p:txBody>
      </p:sp>
      <p:pic>
        <p:nvPicPr>
          <p:cNvPr id="20" name="Picture 19">
            <a:extLst>
              <a:ext uri="{FF2B5EF4-FFF2-40B4-BE49-F238E27FC236}">
                <a16:creationId xmlns:a16="http://schemas.microsoft.com/office/drawing/2014/main" id="{969BB8D4-7116-1D3C-244A-1DA1350BF347}"/>
              </a:ext>
            </a:extLst>
          </p:cNvPr>
          <p:cNvPicPr>
            <a:picLocks noChangeAspect="1"/>
          </p:cNvPicPr>
          <p:nvPr/>
        </p:nvPicPr>
        <p:blipFill>
          <a:blip r:embed="rId2"/>
          <a:stretch>
            <a:fillRect/>
          </a:stretch>
        </p:blipFill>
        <p:spPr>
          <a:xfrm>
            <a:off x="123698" y="1281682"/>
            <a:ext cx="4050158" cy="3289173"/>
          </a:xfrm>
          <a:prstGeom prst="rect">
            <a:avLst/>
          </a:prstGeom>
        </p:spPr>
      </p:pic>
      <p:pic>
        <p:nvPicPr>
          <p:cNvPr id="22" name="Picture 21">
            <a:extLst>
              <a:ext uri="{FF2B5EF4-FFF2-40B4-BE49-F238E27FC236}">
                <a16:creationId xmlns:a16="http://schemas.microsoft.com/office/drawing/2014/main" id="{CD074705-DB35-E250-971A-993337FBF2A9}"/>
              </a:ext>
            </a:extLst>
          </p:cNvPr>
          <p:cNvPicPr>
            <a:picLocks noChangeAspect="1"/>
          </p:cNvPicPr>
          <p:nvPr/>
        </p:nvPicPr>
        <p:blipFill>
          <a:blip r:embed="rId3"/>
          <a:stretch>
            <a:fillRect/>
          </a:stretch>
        </p:blipFill>
        <p:spPr>
          <a:xfrm>
            <a:off x="4252923" y="1301113"/>
            <a:ext cx="3958892" cy="3289173"/>
          </a:xfrm>
          <a:prstGeom prst="rect">
            <a:avLst/>
          </a:prstGeom>
        </p:spPr>
      </p:pic>
      <p:pic>
        <p:nvPicPr>
          <p:cNvPr id="24" name="Picture 23">
            <a:extLst>
              <a:ext uri="{FF2B5EF4-FFF2-40B4-BE49-F238E27FC236}">
                <a16:creationId xmlns:a16="http://schemas.microsoft.com/office/drawing/2014/main" id="{CA10EE04-CC7D-954D-F50F-03A6C4A14260}"/>
              </a:ext>
            </a:extLst>
          </p:cNvPr>
          <p:cNvPicPr>
            <a:picLocks noChangeAspect="1"/>
          </p:cNvPicPr>
          <p:nvPr/>
        </p:nvPicPr>
        <p:blipFill>
          <a:blip r:embed="rId4"/>
          <a:stretch>
            <a:fillRect/>
          </a:stretch>
        </p:blipFill>
        <p:spPr>
          <a:xfrm>
            <a:off x="8321363" y="1323972"/>
            <a:ext cx="3746939" cy="3246883"/>
          </a:xfrm>
          <a:prstGeom prst="rect">
            <a:avLst/>
          </a:prstGeom>
        </p:spPr>
      </p:pic>
      <p:sp>
        <p:nvSpPr>
          <p:cNvPr id="7172" name="Content Placeholder 3">
            <a:extLst>
              <a:ext uri="{FF2B5EF4-FFF2-40B4-BE49-F238E27FC236}">
                <a16:creationId xmlns:a16="http://schemas.microsoft.com/office/drawing/2014/main" id="{EF7D3B9E-8963-4F0C-3257-4E1F33AD5FDC}"/>
              </a:ext>
            </a:extLst>
          </p:cNvPr>
          <p:cNvSpPr txBox="1">
            <a:spLocks/>
          </p:cNvSpPr>
          <p:nvPr/>
        </p:nvSpPr>
        <p:spPr>
          <a:xfrm>
            <a:off x="123699" y="5011289"/>
            <a:ext cx="11530140" cy="1218061"/>
          </a:xfrm>
          <a:prstGeom prst="rect">
            <a:avLst/>
          </a:prstGeom>
        </p:spPr>
        <p:txBody>
          <a:bodyPr/>
          <a:lst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en-US" altLang="en-US" sz="1600" dirty="0">
                <a:solidFill>
                  <a:srgbClr val="333333"/>
                </a:solidFill>
                <a:cs typeface="Arial" panose="020B0604020202020204" pitchFamily="34" charset="0"/>
              </a:rPr>
              <a:t>Data was gathered  from the Gen-Zs through almost every social media platforms like LinkedIn, Facebook, WhatsApp, Gmail, Instagram etc.</a:t>
            </a:r>
          </a:p>
          <a:p>
            <a:pPr>
              <a:buFont typeface="Wingdings" panose="05000000000000000000" pitchFamily="2" charset="2"/>
              <a:buChar char="v"/>
            </a:pPr>
            <a:r>
              <a:rPr lang="en-US" altLang="en-US" sz="1600" dirty="0">
                <a:solidFill>
                  <a:srgbClr val="333333"/>
                </a:solidFill>
                <a:cs typeface="Arial" panose="020B0604020202020204" pitchFamily="34" charset="0"/>
              </a:rPr>
              <a:t>We received around 3400+ complete forms and about 50000 responses. The responses were roughly from 1800 different Postal codes across India.</a:t>
            </a:r>
          </a:p>
          <a:p>
            <a:pPr marL="0" indent="0">
              <a:buFont typeface="Arial" panose="020B0604020202020204" pitchFamily="34" charset="0"/>
              <a:buNone/>
            </a:pPr>
            <a:endParaRPr lang="en-US" altLang="en-US" dirty="0"/>
          </a:p>
        </p:txBody>
      </p:sp>
    </p:spTree>
    <p:extLst>
      <p:ext uri="{BB962C8B-B14F-4D97-AF65-F5344CB8AC3E}">
        <p14:creationId xmlns:p14="http://schemas.microsoft.com/office/powerpoint/2010/main" val="8977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5D67-56B9-4DBB-5270-4A51BFCDAB62}"/>
              </a:ext>
            </a:extLst>
          </p:cNvPr>
          <p:cNvSpPr>
            <a:spLocks noGrp="1"/>
          </p:cNvSpPr>
          <p:nvPr>
            <p:ph type="title"/>
          </p:nvPr>
        </p:nvSpPr>
        <p:spPr>
          <a:xfrm>
            <a:off x="247650" y="403098"/>
            <a:ext cx="11005947" cy="557784"/>
          </a:xfrm>
        </p:spPr>
        <p:txBody>
          <a:bodyPr/>
          <a:lstStyle/>
          <a:p>
            <a:r>
              <a:rPr lang="en-US" dirty="0"/>
              <a:t>DATA ANALYSIS USING SQL QUERIES</a:t>
            </a:r>
            <a:br>
              <a:rPr lang="en-US" dirty="0"/>
            </a:br>
            <a:endParaRPr lang="en-US" dirty="0"/>
          </a:p>
        </p:txBody>
      </p:sp>
      <p:sp>
        <p:nvSpPr>
          <p:cNvPr id="4" name="Slide Number Placeholder 3">
            <a:extLst>
              <a:ext uri="{FF2B5EF4-FFF2-40B4-BE49-F238E27FC236}">
                <a16:creationId xmlns:a16="http://schemas.microsoft.com/office/drawing/2014/main" id="{0B7D930E-9FE8-F230-9BDF-13B152862EB4}"/>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7</a:t>
            </a:fld>
            <a:endParaRPr lang="en-US" dirty="0"/>
          </a:p>
        </p:txBody>
      </p:sp>
      <p:pic>
        <p:nvPicPr>
          <p:cNvPr id="10" name="Picture 9" descr="A screenshot of a computer&#10;&#10;Description automatically generated">
            <a:extLst>
              <a:ext uri="{FF2B5EF4-FFF2-40B4-BE49-F238E27FC236}">
                <a16:creationId xmlns:a16="http://schemas.microsoft.com/office/drawing/2014/main" id="{82678B32-F93E-E603-9024-F292E37D6CCA}"/>
              </a:ext>
            </a:extLst>
          </p:cNvPr>
          <p:cNvPicPr>
            <a:picLocks noChangeAspect="1"/>
          </p:cNvPicPr>
          <p:nvPr/>
        </p:nvPicPr>
        <p:blipFill>
          <a:blip r:embed="rId2"/>
          <a:stretch>
            <a:fillRect/>
          </a:stretch>
        </p:blipFill>
        <p:spPr>
          <a:xfrm>
            <a:off x="247650" y="1008507"/>
            <a:ext cx="4892349" cy="3020568"/>
          </a:xfrm>
          <a:prstGeom prst="rect">
            <a:avLst/>
          </a:prstGeom>
          <a:effectLst>
            <a:softEdge rad="152400"/>
          </a:effectLst>
        </p:spPr>
      </p:pic>
      <p:pic>
        <p:nvPicPr>
          <p:cNvPr id="11" name="Picture 10" descr="A screenshot of a computer&#10;&#10;Description automatically generated">
            <a:extLst>
              <a:ext uri="{FF2B5EF4-FFF2-40B4-BE49-F238E27FC236}">
                <a16:creationId xmlns:a16="http://schemas.microsoft.com/office/drawing/2014/main" id="{1D031CB4-4B97-C018-2F5D-03086C6399AA}"/>
              </a:ext>
            </a:extLst>
          </p:cNvPr>
          <p:cNvPicPr>
            <a:picLocks noChangeAspect="1"/>
          </p:cNvPicPr>
          <p:nvPr/>
        </p:nvPicPr>
        <p:blipFill>
          <a:blip r:embed="rId3"/>
          <a:stretch>
            <a:fillRect/>
          </a:stretch>
        </p:blipFill>
        <p:spPr>
          <a:xfrm>
            <a:off x="5724525" y="1073728"/>
            <a:ext cx="4705297" cy="2838648"/>
          </a:xfrm>
          <a:prstGeom prst="rect">
            <a:avLst/>
          </a:prstGeom>
          <a:effectLst>
            <a:softEdge rad="63500"/>
          </a:effectLst>
        </p:spPr>
      </p:pic>
      <p:sp>
        <p:nvSpPr>
          <p:cNvPr id="8198" name="TextBox 9">
            <a:extLst>
              <a:ext uri="{FF2B5EF4-FFF2-40B4-BE49-F238E27FC236}">
                <a16:creationId xmlns:a16="http://schemas.microsoft.com/office/drawing/2014/main" id="{B57DEC15-EB8B-6870-BF8D-10BDD2D57C6C}"/>
              </a:ext>
            </a:extLst>
          </p:cNvPr>
          <p:cNvSpPr txBox="1">
            <a:spLocks noChangeArrowheads="1"/>
          </p:cNvSpPr>
          <p:nvPr/>
        </p:nvSpPr>
        <p:spPr bwMode="auto">
          <a:xfrm>
            <a:off x="247650" y="4340225"/>
            <a:ext cx="1007973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pPr>
            <a:r>
              <a:rPr lang="en-IN" altLang="en-US" sz="1600" dirty="0"/>
              <a:t>For analysis I have used MYSQL.</a:t>
            </a:r>
          </a:p>
          <a:p>
            <a:pPr eaLnBrk="1" hangingPunct="1">
              <a:lnSpc>
                <a:spcPct val="100000"/>
              </a:lnSpc>
              <a:spcBef>
                <a:spcPct val="0"/>
              </a:spcBef>
            </a:pPr>
            <a:r>
              <a:rPr lang="en-IN" altLang="en-US" sz="1600" dirty="0"/>
              <a:t> Collected data has imported from csv and xlsx files to the  My </a:t>
            </a:r>
            <a:r>
              <a:rPr lang="en-IN" altLang="en-US" sz="1600" dirty="0" err="1"/>
              <a:t>sql</a:t>
            </a:r>
            <a:r>
              <a:rPr lang="en-IN" altLang="en-US" sz="1600" dirty="0"/>
              <a:t> server.</a:t>
            </a:r>
          </a:p>
          <a:p>
            <a:pPr eaLnBrk="1" hangingPunct="1">
              <a:lnSpc>
                <a:spcPct val="100000"/>
              </a:lnSpc>
              <a:spcBef>
                <a:spcPct val="0"/>
              </a:spcBef>
            </a:pPr>
            <a:r>
              <a:rPr lang="en-IN" altLang="en-US" sz="1600" dirty="0"/>
              <a:t>Wrote SQL queries to understand the business answers and also to get insights while solving various  business questions too.</a:t>
            </a:r>
          </a:p>
        </p:txBody>
      </p:sp>
    </p:spTree>
    <p:extLst>
      <p:ext uri="{BB962C8B-B14F-4D97-AF65-F5344CB8AC3E}">
        <p14:creationId xmlns:p14="http://schemas.microsoft.com/office/powerpoint/2010/main" val="398699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ACF3-596C-92A5-7AD1-A2B11C037104}"/>
              </a:ext>
            </a:extLst>
          </p:cNvPr>
          <p:cNvSpPr>
            <a:spLocks noGrp="1"/>
          </p:cNvSpPr>
          <p:nvPr>
            <p:ph type="title"/>
          </p:nvPr>
        </p:nvSpPr>
        <p:spPr>
          <a:xfrm>
            <a:off x="841248" y="841248"/>
            <a:ext cx="10479024" cy="557784"/>
          </a:xfrm>
        </p:spPr>
        <p:txBody>
          <a:bodyPr/>
          <a:lstStyle/>
          <a:p>
            <a:r>
              <a:rPr lang="en-US" dirty="0"/>
              <a:t>EXECUTIVE DASHBOARD IN EXCEL</a:t>
            </a:r>
            <a:br>
              <a:rPr lang="en-US" dirty="0"/>
            </a:br>
            <a:endParaRPr lang="en-US" dirty="0"/>
          </a:p>
        </p:txBody>
      </p:sp>
      <p:sp>
        <p:nvSpPr>
          <p:cNvPr id="4" name="Slide Number Placeholder 3">
            <a:extLst>
              <a:ext uri="{FF2B5EF4-FFF2-40B4-BE49-F238E27FC236}">
                <a16:creationId xmlns:a16="http://schemas.microsoft.com/office/drawing/2014/main" id="{69EB7C78-0890-627E-C852-B11CAB85CFE7}"/>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8</a:t>
            </a:fld>
            <a:endParaRPr lang="en-US" dirty="0"/>
          </a:p>
        </p:txBody>
      </p:sp>
      <p:pic>
        <p:nvPicPr>
          <p:cNvPr id="9219" name="Content Placeholder 3">
            <a:extLst>
              <a:ext uri="{FF2B5EF4-FFF2-40B4-BE49-F238E27FC236}">
                <a16:creationId xmlns:a16="http://schemas.microsoft.com/office/drawing/2014/main" id="{3156B742-6F91-EBE2-DCCA-F5CAB08A62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79438" y="1343389"/>
            <a:ext cx="9478962" cy="5330033"/>
          </a:xfrm>
          <a:prstGeom prst="rect">
            <a:avLst/>
          </a:prstGeom>
        </p:spPr>
      </p:pic>
    </p:spTree>
    <p:extLst>
      <p:ext uri="{BB962C8B-B14F-4D97-AF65-F5344CB8AC3E}">
        <p14:creationId xmlns:p14="http://schemas.microsoft.com/office/powerpoint/2010/main" val="4050281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6F643-9DF2-B730-72CE-75663E4FF0DF}"/>
              </a:ext>
            </a:extLst>
          </p:cNvPr>
          <p:cNvSpPr>
            <a:spLocks noGrp="1"/>
          </p:cNvSpPr>
          <p:nvPr>
            <p:ph type="title"/>
          </p:nvPr>
        </p:nvSpPr>
        <p:spPr>
          <a:xfrm>
            <a:off x="841248" y="841248"/>
            <a:ext cx="10479024" cy="557784"/>
          </a:xfrm>
        </p:spPr>
        <p:txBody>
          <a:bodyPr/>
          <a:lstStyle/>
          <a:p>
            <a:r>
              <a:rPr lang="en-US" dirty="0"/>
              <a:t>FUNCTIONAL DASHBOARD IN POWERBI</a:t>
            </a:r>
            <a:br>
              <a:rPr lang="en-US" dirty="0"/>
            </a:br>
            <a:endParaRPr lang="en-US" dirty="0"/>
          </a:p>
        </p:txBody>
      </p:sp>
      <p:sp>
        <p:nvSpPr>
          <p:cNvPr id="4" name="Slide Number Placeholder 3">
            <a:extLst>
              <a:ext uri="{FF2B5EF4-FFF2-40B4-BE49-F238E27FC236}">
                <a16:creationId xmlns:a16="http://schemas.microsoft.com/office/drawing/2014/main" id="{D425AA3C-075D-E8DD-D48B-DA9E07CBE09F}"/>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9</a:t>
            </a:fld>
            <a:endParaRPr lang="en-US" dirty="0"/>
          </a:p>
        </p:txBody>
      </p:sp>
      <p:sp>
        <p:nvSpPr>
          <p:cNvPr id="10" name="TextBox 9">
            <a:extLst>
              <a:ext uri="{FF2B5EF4-FFF2-40B4-BE49-F238E27FC236}">
                <a16:creationId xmlns:a16="http://schemas.microsoft.com/office/drawing/2014/main" id="{EF02F6E8-877B-C747-A353-DE4AA66AF8E7}"/>
              </a:ext>
            </a:extLst>
          </p:cNvPr>
          <p:cNvSpPr txBox="1"/>
          <p:nvPr/>
        </p:nvSpPr>
        <p:spPr>
          <a:xfrm>
            <a:off x="490538" y="1460500"/>
            <a:ext cx="10596562" cy="830997"/>
          </a:xfrm>
          <a:prstGeom prst="rect">
            <a:avLst/>
          </a:prstGeom>
          <a:noFill/>
        </p:spPr>
        <p:txBody>
          <a:bodyPr wrap="square">
            <a:spAutoFit/>
          </a:bodyPr>
          <a:lstStyle/>
          <a:p>
            <a:pPr eaLnBrk="1" fontAlgn="auto" hangingPunct="1">
              <a:spcBef>
                <a:spcPts val="0"/>
              </a:spcBef>
              <a:spcAft>
                <a:spcPts val="0"/>
              </a:spcAft>
              <a:defRPr/>
            </a:pPr>
            <a:r>
              <a:rPr lang="en-US" sz="1600" dirty="0">
                <a:latin typeface="+mn-lt"/>
              </a:rPr>
              <a:t>Created 2 dashboards in Power-Bi to have a deep visual understanding</a:t>
            </a:r>
          </a:p>
          <a:p>
            <a:pPr marL="285750" indent="-285750" eaLnBrk="1" fontAlgn="auto" hangingPunct="1">
              <a:spcBef>
                <a:spcPts val="0"/>
              </a:spcBef>
              <a:spcAft>
                <a:spcPts val="0"/>
              </a:spcAft>
              <a:buFont typeface="Arial" panose="020B0604020202020204" pitchFamily="34" charset="0"/>
              <a:buChar char="•"/>
              <a:defRPr/>
            </a:pPr>
            <a:r>
              <a:rPr lang="en-US" sz="1600" b="1" dirty="0">
                <a:latin typeface="+mn-lt"/>
              </a:rPr>
              <a:t>Manager aspirations</a:t>
            </a:r>
          </a:p>
          <a:p>
            <a:pPr marL="285750" indent="-285750" eaLnBrk="1" fontAlgn="auto" hangingPunct="1">
              <a:spcBef>
                <a:spcPts val="0"/>
              </a:spcBef>
              <a:spcAft>
                <a:spcPts val="0"/>
              </a:spcAft>
              <a:buFont typeface="Arial" panose="020B0604020202020204" pitchFamily="34" charset="0"/>
              <a:buChar char="•"/>
              <a:defRPr/>
            </a:pPr>
            <a:r>
              <a:rPr lang="en-US" sz="1600" b="1" dirty="0">
                <a:latin typeface="+mn-lt"/>
              </a:rPr>
              <a:t>Mission aspirations.</a:t>
            </a:r>
          </a:p>
        </p:txBody>
      </p:sp>
      <p:pic>
        <p:nvPicPr>
          <p:cNvPr id="10244" name="Content Placeholder 3">
            <a:extLst>
              <a:ext uri="{FF2B5EF4-FFF2-40B4-BE49-F238E27FC236}">
                <a16:creationId xmlns:a16="http://schemas.microsoft.com/office/drawing/2014/main" id="{DBCC0404-D8B4-FC86-3F16-6BAD53C3B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0013" y="2538413"/>
            <a:ext cx="6111875" cy="4175125"/>
          </a:xfrm>
          <a:prstGeom prst="rect">
            <a:avLst/>
          </a:prstGeom>
        </p:spPr>
      </p:pic>
      <p:pic>
        <p:nvPicPr>
          <p:cNvPr id="10245" name="Picture 5">
            <a:extLst>
              <a:ext uri="{FF2B5EF4-FFF2-40B4-BE49-F238E27FC236}">
                <a16:creationId xmlns:a16="http://schemas.microsoft.com/office/drawing/2014/main" id="{00A2D9B5-E9EC-3ECE-66F3-00CEF342AF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1888" y="2538413"/>
            <a:ext cx="5821363"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28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333A90-2ED2-EF64-F9B3-7807A3275B87}"/>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10</a:t>
            </a:fld>
            <a:endParaRPr lang="en-US" dirty="0"/>
          </a:p>
        </p:txBody>
      </p:sp>
      <p:sp>
        <p:nvSpPr>
          <p:cNvPr id="11266" name="Title 1">
            <a:extLst>
              <a:ext uri="{FF2B5EF4-FFF2-40B4-BE49-F238E27FC236}">
                <a16:creationId xmlns:a16="http://schemas.microsoft.com/office/drawing/2014/main" id="{25D4FC58-3A26-B16E-5DFA-B01D54472CAA}"/>
              </a:ext>
            </a:extLst>
          </p:cNvPr>
          <p:cNvSpPr>
            <a:spLocks noGrp="1"/>
          </p:cNvSpPr>
          <p:nvPr>
            <p:ph type="title"/>
          </p:nvPr>
        </p:nvSpPr>
        <p:spPr>
          <a:xfrm>
            <a:off x="1000125" y="435900"/>
            <a:ext cx="10668000" cy="288000"/>
          </a:xfrm>
        </p:spPr>
        <p:txBody>
          <a:bodyPr/>
          <a:lstStyle/>
          <a:p>
            <a:pPr algn="ctr" eaLnBrk="1" hangingPunct="1"/>
            <a:r>
              <a:rPr lang="en-US" altLang="en-US" sz="2800" u="sng" dirty="0">
                <a:latin typeface="Calibri" panose="020F0502020204030204" pitchFamily="34" charset="0"/>
              </a:rPr>
              <a:t>ACCENTURE REVIEW RATINGS(AMBITIONBOX AND INDEED)</a:t>
            </a:r>
            <a:endParaRPr lang="en-US" altLang="en-US" sz="2800" b="1" u="sng" dirty="0">
              <a:latin typeface="Calibri" panose="020F0502020204030204" pitchFamily="34" charset="0"/>
            </a:endParaRPr>
          </a:p>
        </p:txBody>
      </p:sp>
      <p:pic>
        <p:nvPicPr>
          <p:cNvPr id="8" name="Picture 7">
            <a:extLst>
              <a:ext uri="{FF2B5EF4-FFF2-40B4-BE49-F238E27FC236}">
                <a16:creationId xmlns:a16="http://schemas.microsoft.com/office/drawing/2014/main" id="{2206C9C0-3C08-B14E-EA4D-01AB13038988}"/>
              </a:ext>
            </a:extLst>
          </p:cNvPr>
          <p:cNvPicPr>
            <a:picLocks noChangeAspect="1"/>
          </p:cNvPicPr>
          <p:nvPr/>
        </p:nvPicPr>
        <p:blipFill>
          <a:blip r:embed="rId2"/>
          <a:stretch>
            <a:fillRect/>
          </a:stretch>
        </p:blipFill>
        <p:spPr>
          <a:xfrm>
            <a:off x="0" y="0"/>
            <a:ext cx="1000125" cy="1000125"/>
          </a:xfrm>
          <a:prstGeom prst="rect">
            <a:avLst/>
          </a:prstGeom>
        </p:spPr>
      </p:pic>
      <p:pic>
        <p:nvPicPr>
          <p:cNvPr id="14" name="Picture 13">
            <a:extLst>
              <a:ext uri="{FF2B5EF4-FFF2-40B4-BE49-F238E27FC236}">
                <a16:creationId xmlns:a16="http://schemas.microsoft.com/office/drawing/2014/main" id="{1881C247-F8F8-9FD5-6B49-0628AE3EE177}"/>
              </a:ext>
            </a:extLst>
          </p:cNvPr>
          <p:cNvPicPr>
            <a:picLocks noChangeAspect="1"/>
          </p:cNvPicPr>
          <p:nvPr/>
        </p:nvPicPr>
        <p:blipFill>
          <a:blip r:embed="rId3"/>
          <a:stretch>
            <a:fillRect/>
          </a:stretch>
        </p:blipFill>
        <p:spPr>
          <a:xfrm>
            <a:off x="247649" y="1081181"/>
            <a:ext cx="3966371" cy="2081120"/>
          </a:xfrm>
          <a:prstGeom prst="rect">
            <a:avLst/>
          </a:prstGeom>
        </p:spPr>
      </p:pic>
      <p:pic>
        <p:nvPicPr>
          <p:cNvPr id="18" name="Picture 17">
            <a:extLst>
              <a:ext uri="{FF2B5EF4-FFF2-40B4-BE49-F238E27FC236}">
                <a16:creationId xmlns:a16="http://schemas.microsoft.com/office/drawing/2014/main" id="{12F26471-7767-25D8-11B5-60B481E10DB1}"/>
              </a:ext>
            </a:extLst>
          </p:cNvPr>
          <p:cNvPicPr>
            <a:picLocks noChangeAspect="1"/>
          </p:cNvPicPr>
          <p:nvPr/>
        </p:nvPicPr>
        <p:blipFill>
          <a:blip r:embed="rId4"/>
          <a:stretch>
            <a:fillRect/>
          </a:stretch>
        </p:blipFill>
        <p:spPr>
          <a:xfrm>
            <a:off x="4300536" y="1081181"/>
            <a:ext cx="3966371" cy="2081120"/>
          </a:xfrm>
          <a:prstGeom prst="rect">
            <a:avLst/>
          </a:prstGeom>
        </p:spPr>
      </p:pic>
      <p:sp>
        <p:nvSpPr>
          <p:cNvPr id="21" name="TextBox 20">
            <a:extLst>
              <a:ext uri="{FF2B5EF4-FFF2-40B4-BE49-F238E27FC236}">
                <a16:creationId xmlns:a16="http://schemas.microsoft.com/office/drawing/2014/main" id="{0755CBA1-2702-C661-5CF9-3540A9DA8AD9}"/>
              </a:ext>
            </a:extLst>
          </p:cNvPr>
          <p:cNvSpPr txBox="1"/>
          <p:nvPr/>
        </p:nvSpPr>
        <p:spPr>
          <a:xfrm>
            <a:off x="8496300" y="1000125"/>
            <a:ext cx="3043238" cy="1846659"/>
          </a:xfrm>
          <a:prstGeom prst="rect">
            <a:avLst/>
          </a:prstGeom>
          <a:noFill/>
        </p:spPr>
        <p:txBody>
          <a:bodyPr wrap="square">
            <a:spAutoFit/>
          </a:bodyPr>
          <a:lstStyle/>
          <a:p>
            <a:pPr>
              <a:buNone/>
            </a:pPr>
            <a:r>
              <a:rPr lang="en-US" b="1" dirty="0">
                <a:solidFill>
                  <a:schemeClr val="accent6">
                    <a:lumMod val="50000"/>
                  </a:schemeClr>
                </a:solidFill>
              </a:rPr>
              <a:t>Key Highlights</a:t>
            </a:r>
          </a:p>
          <a:p>
            <a:pPr>
              <a:buFont typeface="Arial" panose="020B0604020202020204" pitchFamily="34" charset="0"/>
              <a:buChar char="•"/>
            </a:pPr>
            <a:r>
              <a:rPr lang="en-US" sz="1600" dirty="0"/>
              <a:t>Overall rating: </a:t>
            </a:r>
            <a:r>
              <a:rPr lang="en-US" sz="1600" b="1" dirty="0"/>
              <a:t>3.7–3.9/5</a:t>
            </a:r>
            <a:r>
              <a:rPr lang="en-US" sz="1600" dirty="0"/>
              <a:t> — generally positive.</a:t>
            </a:r>
          </a:p>
          <a:p>
            <a:pPr>
              <a:buFont typeface="Arial" panose="020B0604020202020204" pitchFamily="34" charset="0"/>
              <a:buChar char="•"/>
            </a:pPr>
            <a:r>
              <a:rPr lang="en-US" sz="1600" dirty="0"/>
              <a:t>Strong in </a:t>
            </a:r>
            <a:r>
              <a:rPr lang="en-US" sz="1600" b="1" dirty="0"/>
              <a:t>culture, job security, work-life balance, skill development</a:t>
            </a:r>
            <a:r>
              <a:rPr lang="en-US" sz="1600" dirty="0"/>
              <a:t>.</a:t>
            </a:r>
          </a:p>
          <a:p>
            <a:pPr>
              <a:buFont typeface="Arial" panose="020B0604020202020204" pitchFamily="34" charset="0"/>
              <a:buChar char="•"/>
            </a:pPr>
            <a:r>
              <a:rPr lang="en-US" sz="1600" dirty="0"/>
              <a:t>Weak in </a:t>
            </a:r>
            <a:r>
              <a:rPr lang="en-US" sz="1600" b="1" dirty="0"/>
              <a:t>salary and promotions</a:t>
            </a:r>
            <a:r>
              <a:rPr lang="en-US" sz="1600" dirty="0"/>
              <a:t>.</a:t>
            </a:r>
          </a:p>
        </p:txBody>
      </p:sp>
      <p:sp>
        <p:nvSpPr>
          <p:cNvPr id="23" name="TextBox 22">
            <a:extLst>
              <a:ext uri="{FF2B5EF4-FFF2-40B4-BE49-F238E27FC236}">
                <a16:creationId xmlns:a16="http://schemas.microsoft.com/office/drawing/2014/main" id="{2C005C36-ECF6-27A9-CB71-CF44B880BDF6}"/>
              </a:ext>
            </a:extLst>
          </p:cNvPr>
          <p:cNvSpPr txBox="1"/>
          <p:nvPr/>
        </p:nvSpPr>
        <p:spPr>
          <a:xfrm>
            <a:off x="247650" y="3429000"/>
            <a:ext cx="3248026" cy="2339102"/>
          </a:xfrm>
          <a:prstGeom prst="rect">
            <a:avLst/>
          </a:prstGeom>
          <a:noFill/>
        </p:spPr>
        <p:txBody>
          <a:bodyPr wrap="square">
            <a:spAutoFit/>
          </a:bodyPr>
          <a:lstStyle/>
          <a:p>
            <a:pPr>
              <a:buNone/>
            </a:pPr>
            <a:r>
              <a:rPr lang="en-US" b="1" dirty="0">
                <a:solidFill>
                  <a:schemeClr val="accent6">
                    <a:lumMod val="50000"/>
                  </a:schemeClr>
                </a:solidFill>
              </a:rPr>
              <a:t>Pros</a:t>
            </a:r>
          </a:p>
          <a:p>
            <a:pPr>
              <a:buFont typeface="Arial" panose="020B0604020202020204" pitchFamily="34" charset="0"/>
              <a:buChar char="•"/>
            </a:pPr>
            <a:r>
              <a:rPr lang="en-US" sz="1600" dirty="0"/>
              <a:t>Supportive work culture &amp; stable environment.</a:t>
            </a:r>
          </a:p>
          <a:p>
            <a:pPr>
              <a:buFont typeface="Arial" panose="020B0604020202020204" pitchFamily="34" charset="0"/>
              <a:buChar char="•"/>
            </a:pPr>
            <a:r>
              <a:rPr lang="en-US" sz="1600" dirty="0"/>
              <a:t>Good training and learning opportunities.</a:t>
            </a:r>
          </a:p>
          <a:p>
            <a:pPr>
              <a:buFont typeface="Arial" panose="020B0604020202020204" pitchFamily="34" charset="0"/>
              <a:buChar char="•"/>
            </a:pPr>
            <a:r>
              <a:rPr lang="en-US" sz="1600" dirty="0"/>
              <a:t>Decent work-life balance for many roles.</a:t>
            </a:r>
          </a:p>
          <a:p>
            <a:pPr>
              <a:buFont typeface="Arial" panose="020B0604020202020204" pitchFamily="34" charset="0"/>
              <a:buChar char="•"/>
            </a:pPr>
            <a:r>
              <a:rPr lang="en-US" sz="1600" dirty="0"/>
              <a:t>Global exposure and diverse projects.</a:t>
            </a:r>
          </a:p>
        </p:txBody>
      </p:sp>
      <p:sp>
        <p:nvSpPr>
          <p:cNvPr id="25" name="TextBox 24">
            <a:extLst>
              <a:ext uri="{FF2B5EF4-FFF2-40B4-BE49-F238E27FC236}">
                <a16:creationId xmlns:a16="http://schemas.microsoft.com/office/drawing/2014/main" id="{EEE3EE87-8FFB-C1C9-E2F6-80509A781B18}"/>
              </a:ext>
            </a:extLst>
          </p:cNvPr>
          <p:cNvSpPr txBox="1"/>
          <p:nvPr/>
        </p:nvSpPr>
        <p:spPr>
          <a:xfrm>
            <a:off x="3495676" y="3429000"/>
            <a:ext cx="3248027" cy="1661993"/>
          </a:xfrm>
          <a:prstGeom prst="rect">
            <a:avLst/>
          </a:prstGeom>
          <a:noFill/>
        </p:spPr>
        <p:txBody>
          <a:bodyPr wrap="square">
            <a:spAutoFit/>
          </a:bodyPr>
          <a:lstStyle/>
          <a:p>
            <a:pPr>
              <a:buNone/>
            </a:pPr>
            <a:r>
              <a:rPr lang="en-US" b="1" dirty="0">
                <a:solidFill>
                  <a:schemeClr val="accent6">
                    <a:lumMod val="50000"/>
                  </a:schemeClr>
                </a:solidFill>
              </a:rPr>
              <a:t>Cons</a:t>
            </a:r>
          </a:p>
          <a:p>
            <a:pPr>
              <a:buFont typeface="Arial" panose="020B0604020202020204" pitchFamily="34" charset="0"/>
              <a:buChar char="•"/>
            </a:pPr>
            <a:r>
              <a:rPr lang="en-US" sz="1600" dirty="0"/>
              <a:t>Salary below market expectations.</a:t>
            </a:r>
          </a:p>
          <a:p>
            <a:pPr>
              <a:buFont typeface="Arial" panose="020B0604020202020204" pitchFamily="34" charset="0"/>
              <a:buChar char="•"/>
            </a:pPr>
            <a:r>
              <a:rPr lang="en-US" sz="1600" dirty="0"/>
              <a:t>Slow/unclear promotion pathways.</a:t>
            </a:r>
          </a:p>
          <a:p>
            <a:pPr>
              <a:buFont typeface="Arial" panose="020B0604020202020204" pitchFamily="34" charset="0"/>
              <a:buChar char="•"/>
            </a:pPr>
            <a:r>
              <a:rPr lang="en-US" sz="1600" dirty="0"/>
              <a:t>Workload spikes in some teams.</a:t>
            </a:r>
          </a:p>
          <a:p>
            <a:pPr>
              <a:buFont typeface="Arial" panose="020B0604020202020204" pitchFamily="34" charset="0"/>
              <a:buChar char="•"/>
            </a:pPr>
            <a:r>
              <a:rPr lang="en-US" sz="1600" dirty="0"/>
              <a:t>Experiences vary widely based on manager/team.</a:t>
            </a:r>
          </a:p>
        </p:txBody>
      </p:sp>
      <p:sp>
        <p:nvSpPr>
          <p:cNvPr id="27" name="TextBox 26">
            <a:extLst>
              <a:ext uri="{FF2B5EF4-FFF2-40B4-BE49-F238E27FC236}">
                <a16:creationId xmlns:a16="http://schemas.microsoft.com/office/drawing/2014/main" id="{D3904825-A54C-42FF-C2EB-A13F5C865B31}"/>
              </a:ext>
            </a:extLst>
          </p:cNvPr>
          <p:cNvSpPr txBox="1"/>
          <p:nvPr/>
        </p:nvSpPr>
        <p:spPr>
          <a:xfrm>
            <a:off x="7191376" y="3164681"/>
            <a:ext cx="4476749" cy="2677656"/>
          </a:xfrm>
          <a:prstGeom prst="rect">
            <a:avLst/>
          </a:prstGeom>
          <a:noFill/>
        </p:spPr>
        <p:txBody>
          <a:bodyPr wrap="square">
            <a:spAutoFit/>
          </a:bodyPr>
          <a:lstStyle/>
          <a:p>
            <a:pPr>
              <a:buNone/>
            </a:pPr>
            <a:r>
              <a:rPr lang="en-US" sz="2000" b="1" dirty="0">
                <a:solidFill>
                  <a:schemeClr val="accent6">
                    <a:lumMod val="50000"/>
                  </a:schemeClr>
                </a:solidFill>
              </a:rPr>
              <a:t>Recommendations</a:t>
            </a:r>
          </a:p>
          <a:p>
            <a:pPr>
              <a:buNone/>
            </a:pPr>
            <a:r>
              <a:rPr lang="en-US" b="1" dirty="0"/>
              <a:t>For Accenture:</a:t>
            </a:r>
            <a:endParaRPr lang="en-US" dirty="0"/>
          </a:p>
          <a:p>
            <a:pPr>
              <a:buFont typeface="Arial" panose="020B0604020202020204" pitchFamily="34" charset="0"/>
              <a:buChar char="•"/>
            </a:pPr>
            <a:r>
              <a:rPr lang="en-US" sz="1600" dirty="0"/>
              <a:t>Improve salary benchmarking &amp; transparency.</a:t>
            </a:r>
          </a:p>
          <a:p>
            <a:pPr>
              <a:buFont typeface="Arial" panose="020B0604020202020204" pitchFamily="34" charset="0"/>
              <a:buChar char="•"/>
            </a:pPr>
            <a:r>
              <a:rPr lang="en-US" sz="1600" dirty="0"/>
              <a:t>Make promotion pathways clearer and faster.</a:t>
            </a:r>
          </a:p>
          <a:p>
            <a:pPr>
              <a:buFont typeface="Arial" panose="020B0604020202020204" pitchFamily="34" charset="0"/>
              <a:buChar char="•"/>
            </a:pPr>
            <a:r>
              <a:rPr lang="en-US" sz="1600" dirty="0"/>
              <a:t>Strengthen manager training &amp; workload management.</a:t>
            </a:r>
          </a:p>
          <a:p>
            <a:pPr>
              <a:buNone/>
            </a:pPr>
            <a:r>
              <a:rPr lang="en-US" b="1" dirty="0"/>
              <a:t>For Gen-Z Jobseekers:</a:t>
            </a:r>
            <a:endParaRPr lang="en-US" dirty="0"/>
          </a:p>
          <a:p>
            <a:pPr>
              <a:buFont typeface="Arial" panose="020B0604020202020204" pitchFamily="34" charset="0"/>
              <a:buChar char="•"/>
            </a:pPr>
            <a:r>
              <a:rPr lang="en-US" sz="1600" dirty="0"/>
              <a:t>Choose teams wisely; manager matters.</a:t>
            </a:r>
          </a:p>
          <a:p>
            <a:pPr>
              <a:buFont typeface="Arial" panose="020B0604020202020204" pitchFamily="34" charset="0"/>
              <a:buChar char="•"/>
            </a:pPr>
            <a:r>
              <a:rPr lang="en-US" sz="1600" dirty="0"/>
              <a:t>Use learning programs to accelerate growth.</a:t>
            </a:r>
          </a:p>
          <a:p>
            <a:pPr>
              <a:buFont typeface="Arial" panose="020B0604020202020204" pitchFamily="34" charset="0"/>
              <a:buChar char="•"/>
            </a:pPr>
            <a:r>
              <a:rPr lang="en-US" sz="1600" dirty="0"/>
              <a:t>Document achievements for faster progression.</a:t>
            </a:r>
          </a:p>
        </p:txBody>
      </p:sp>
    </p:spTree>
    <p:extLst>
      <p:ext uri="{BB962C8B-B14F-4D97-AF65-F5344CB8AC3E}">
        <p14:creationId xmlns:p14="http://schemas.microsoft.com/office/powerpoint/2010/main" val="947225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45">
            <a:extLst>
              <a:ext uri="{FF2B5EF4-FFF2-40B4-BE49-F238E27FC236}">
                <a16:creationId xmlns:a16="http://schemas.microsoft.com/office/drawing/2014/main" id="{B7BFD7D2-6C97-1E33-B2CC-6AE1EB9EF8D2}"/>
              </a:ext>
            </a:extLst>
          </p:cNvPr>
          <p:cNvSpPr>
            <a:spLocks noGrp="1"/>
          </p:cNvSpPr>
          <p:nvPr>
            <p:ph type="body" sz="quarter" idx="15"/>
          </p:nvPr>
        </p:nvSpPr>
        <p:spPr/>
        <p:txBody>
          <a:bodyPr/>
          <a:lstStyle/>
          <a:p>
            <a:endParaRPr lang="en-US" dirty="0"/>
          </a:p>
        </p:txBody>
      </p:sp>
      <p:sp>
        <p:nvSpPr>
          <p:cNvPr id="43" name="Text Placeholder 42">
            <a:extLst>
              <a:ext uri="{FF2B5EF4-FFF2-40B4-BE49-F238E27FC236}">
                <a16:creationId xmlns:a16="http://schemas.microsoft.com/office/drawing/2014/main" id="{D45A4C16-121E-2E37-49E9-4A4ACF2C51FB}"/>
              </a:ext>
            </a:extLst>
          </p:cNvPr>
          <p:cNvSpPr>
            <a:spLocks noGrp="1"/>
          </p:cNvSpPr>
          <p:nvPr>
            <p:ph type="body" sz="quarter" idx="12"/>
          </p:nvPr>
        </p:nvSpPr>
        <p:spPr/>
        <p:txBody>
          <a:bodyPr/>
          <a:lstStyle/>
          <a:p>
            <a:endParaRPr lang="en-US" dirty="0"/>
          </a:p>
        </p:txBody>
      </p:sp>
      <p:sp>
        <p:nvSpPr>
          <p:cNvPr id="44" name="Text Placeholder 43">
            <a:extLst>
              <a:ext uri="{FF2B5EF4-FFF2-40B4-BE49-F238E27FC236}">
                <a16:creationId xmlns:a16="http://schemas.microsoft.com/office/drawing/2014/main" id="{D585FA3F-E61C-D66E-07B0-F757A8CA6054}"/>
              </a:ext>
            </a:extLst>
          </p:cNvPr>
          <p:cNvSpPr>
            <a:spLocks noGrp="1"/>
          </p:cNvSpPr>
          <p:nvPr>
            <p:ph type="body" sz="quarter" idx="13"/>
          </p:nvPr>
        </p:nvSpPr>
        <p:spPr/>
        <p:txBody>
          <a:bodyPr/>
          <a:lstStyle/>
          <a:p>
            <a:endParaRPr lang="en-US" dirty="0"/>
          </a:p>
        </p:txBody>
      </p:sp>
      <p:sp>
        <p:nvSpPr>
          <p:cNvPr id="45" name="Text Placeholder 44">
            <a:extLst>
              <a:ext uri="{FF2B5EF4-FFF2-40B4-BE49-F238E27FC236}">
                <a16:creationId xmlns:a16="http://schemas.microsoft.com/office/drawing/2014/main" id="{37E333FD-F3EA-ED3D-DAD7-C1B2247BA3CA}"/>
              </a:ext>
            </a:extLst>
          </p:cNvPr>
          <p:cNvSpPr>
            <a:spLocks noGrp="1"/>
          </p:cNvSpPr>
          <p:nvPr>
            <p:ph type="body" sz="quarter" idx="14"/>
          </p:nvPr>
        </p:nvSpPr>
        <p:spPr/>
        <p:txBody>
          <a:bodyPr/>
          <a:lstStyle/>
          <a:p>
            <a:endParaRPr lang="en-US" dirty="0"/>
          </a:p>
        </p:txBody>
      </p:sp>
      <p:pic>
        <p:nvPicPr>
          <p:cNvPr id="12292" name="Content Placeholder 4">
            <a:extLst>
              <a:ext uri="{FF2B5EF4-FFF2-40B4-BE49-F238E27FC236}">
                <a16:creationId xmlns:a16="http://schemas.microsoft.com/office/drawing/2014/main" id="{DC6BBD08-CB02-0BDB-75E4-09205D679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37835" y="1143002"/>
            <a:ext cx="6905625" cy="4570413"/>
          </a:xfrm>
          <a:prstGeom prst="rect">
            <a:avLst/>
          </a:prstGeom>
        </p:spPr>
      </p:pic>
      <p:sp>
        <p:nvSpPr>
          <p:cNvPr id="12290" name="Title 1">
            <a:extLst>
              <a:ext uri="{FF2B5EF4-FFF2-40B4-BE49-F238E27FC236}">
                <a16:creationId xmlns:a16="http://schemas.microsoft.com/office/drawing/2014/main" id="{976AA469-F587-AB6E-F3D9-8193B2718494}"/>
              </a:ext>
            </a:extLst>
          </p:cNvPr>
          <p:cNvSpPr>
            <a:spLocks noGrp="1"/>
          </p:cNvSpPr>
          <p:nvPr>
            <p:ph type="title"/>
          </p:nvPr>
        </p:nvSpPr>
        <p:spPr>
          <a:xfrm>
            <a:off x="592138" y="365125"/>
            <a:ext cx="8047037" cy="415925"/>
          </a:xfrm>
        </p:spPr>
        <p:txBody>
          <a:bodyPr/>
          <a:lstStyle/>
          <a:p>
            <a:pPr eaLnBrk="1" hangingPunct="1"/>
            <a:r>
              <a:rPr lang="en-US" altLang="en-US" sz="2800" b="1" dirty="0">
                <a:latin typeface="Calibri" panose="020F0502020204030204" pitchFamily="34" charset="0"/>
              </a:rPr>
              <a:t>GRAPH 1 &amp;  Suggested Recommendations</a:t>
            </a:r>
          </a:p>
        </p:txBody>
      </p:sp>
      <p:sp>
        <p:nvSpPr>
          <p:cNvPr id="6" name="Rectangle 5">
            <a:extLst>
              <a:ext uri="{FF2B5EF4-FFF2-40B4-BE49-F238E27FC236}">
                <a16:creationId xmlns:a16="http://schemas.microsoft.com/office/drawing/2014/main" id="{AB63D6BA-8E33-887D-FF7D-7908010F4FF0}"/>
              </a:ext>
            </a:extLst>
          </p:cNvPr>
          <p:cNvSpPr/>
          <p:nvPr/>
        </p:nvSpPr>
        <p:spPr>
          <a:xfrm>
            <a:off x="7315200" y="561975"/>
            <a:ext cx="4449763" cy="5734050"/>
          </a:xfrm>
          <a:prstGeom prst="rect">
            <a:avLst/>
          </a:prstGeom>
          <a:noFill/>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b="1" u="sng" dirty="0">
                <a:solidFill>
                  <a:schemeClr val="bg1"/>
                </a:solidFill>
              </a:rPr>
              <a:t>Recommendations</a:t>
            </a:r>
          </a:p>
          <a:p>
            <a:pPr algn="ctr" eaLnBrk="1" fontAlgn="auto" hangingPunct="1">
              <a:spcBef>
                <a:spcPts val="0"/>
              </a:spcBef>
              <a:spcAft>
                <a:spcPts val="0"/>
              </a:spcAft>
              <a:defRPr/>
            </a:pPr>
            <a:endParaRPr lang="en-US" dirty="0"/>
          </a:p>
          <a:p>
            <a:pPr marL="285750" indent="-285750" eaLnBrk="1" fontAlgn="auto" hangingPunct="1">
              <a:spcBef>
                <a:spcPts val="0"/>
              </a:spcBef>
              <a:spcAft>
                <a:spcPts val="0"/>
              </a:spcAft>
              <a:buFont typeface="Arial" panose="020B0604020202020204" pitchFamily="34" charset="0"/>
              <a:buChar char="•"/>
              <a:defRPr/>
            </a:pPr>
            <a:r>
              <a:rPr lang="en-US" sz="1600" dirty="0">
                <a:solidFill>
                  <a:schemeClr val="bg2"/>
                </a:solidFill>
              </a:rPr>
              <a:t>57 % of employees have preferred to work under a manager who explains what is expected and who guides them in achieving those goals.</a:t>
            </a:r>
          </a:p>
          <a:p>
            <a:pPr marL="285750" indent="-285750" eaLnBrk="1" fontAlgn="auto" hangingPunct="1">
              <a:spcBef>
                <a:spcPts val="0"/>
              </a:spcBef>
              <a:spcAft>
                <a:spcPts val="0"/>
              </a:spcAft>
              <a:buFont typeface="Arial" panose="020B0604020202020204" pitchFamily="34" charset="0"/>
              <a:buChar char="•"/>
              <a:defRPr/>
            </a:pPr>
            <a:r>
              <a:rPr lang="en-US" sz="1600" dirty="0">
                <a:solidFill>
                  <a:schemeClr val="bg2"/>
                </a:solidFill>
              </a:rPr>
              <a:t>Least preferred managers are those who set unrealistic goals and doesn’t help them address those issues.</a:t>
            </a:r>
          </a:p>
          <a:p>
            <a:pPr marL="285750" indent="-285750" eaLnBrk="1" fontAlgn="auto" hangingPunct="1">
              <a:spcBef>
                <a:spcPts val="0"/>
              </a:spcBef>
              <a:spcAft>
                <a:spcPts val="0"/>
              </a:spcAft>
              <a:buFont typeface="Arial" panose="020B0604020202020204" pitchFamily="34" charset="0"/>
              <a:buChar char="•"/>
              <a:defRPr/>
            </a:pPr>
            <a:r>
              <a:rPr lang="en-US" sz="1600" b="1" dirty="0">
                <a:solidFill>
                  <a:schemeClr val="bg2"/>
                </a:solidFill>
              </a:rPr>
              <a:t>Set Realistic expectations &amp; provide clear communications</a:t>
            </a:r>
            <a:r>
              <a:rPr lang="en-US" sz="1600" dirty="0">
                <a:solidFill>
                  <a:schemeClr val="bg2"/>
                </a:solidFill>
              </a:rPr>
              <a:t>.</a:t>
            </a:r>
          </a:p>
          <a:p>
            <a:pPr marL="285750" indent="-285750" eaLnBrk="1" fontAlgn="auto" hangingPunct="1">
              <a:spcBef>
                <a:spcPts val="0"/>
              </a:spcBef>
              <a:spcAft>
                <a:spcPts val="0"/>
              </a:spcAft>
              <a:buFont typeface="Arial" panose="020B0604020202020204" pitchFamily="34" charset="0"/>
              <a:buChar char="•"/>
              <a:defRPr/>
            </a:pPr>
            <a:r>
              <a:rPr lang="en-US" sz="1600" dirty="0">
                <a:solidFill>
                  <a:schemeClr val="bg2"/>
                </a:solidFill>
              </a:rPr>
              <a:t>Having an effective Mentorship, training programs, and skill-building opportunities.</a:t>
            </a:r>
          </a:p>
          <a:p>
            <a:pPr marL="285750" indent="-285750" eaLnBrk="1" fontAlgn="auto" hangingPunct="1">
              <a:spcBef>
                <a:spcPts val="0"/>
              </a:spcBef>
              <a:spcAft>
                <a:spcPts val="0"/>
              </a:spcAft>
              <a:buFont typeface="Arial" panose="020B0604020202020204" pitchFamily="34" charset="0"/>
              <a:buChar char="•"/>
              <a:defRPr/>
            </a:pPr>
            <a:r>
              <a:rPr lang="en-US" sz="1600" b="1" dirty="0">
                <a:solidFill>
                  <a:schemeClr val="bg2"/>
                </a:solidFill>
              </a:rPr>
              <a:t>Workload assessment as well as leadership training.</a:t>
            </a:r>
          </a:p>
          <a:p>
            <a:pPr marL="285750" indent="-285750" eaLnBrk="1" fontAlgn="auto" hangingPunct="1">
              <a:spcBef>
                <a:spcPts val="0"/>
              </a:spcBef>
              <a:spcAft>
                <a:spcPts val="0"/>
              </a:spcAft>
              <a:buFont typeface="Arial" panose="020B0604020202020204" pitchFamily="34" charset="0"/>
              <a:buChar char="•"/>
              <a:defRPr/>
            </a:pPr>
            <a:r>
              <a:rPr lang="en-US" sz="1600" b="1" dirty="0">
                <a:solidFill>
                  <a:schemeClr val="bg2"/>
                </a:solidFill>
              </a:rPr>
              <a:t>Use employee surveys regularly for feedback.</a:t>
            </a:r>
          </a:p>
          <a:p>
            <a:pPr marL="285750" indent="-285750" algn="ctr" eaLnBrk="1" fontAlgn="auto" hangingPunct="1">
              <a:spcBef>
                <a:spcPts val="0"/>
              </a:spcBef>
              <a:spcAft>
                <a:spcPts val="0"/>
              </a:spcAft>
              <a:buFont typeface="Arial" panose="020B0604020202020204" pitchFamily="34" charset="0"/>
              <a:buChar char="•"/>
              <a:defRPr/>
            </a:pPr>
            <a:endParaRPr lang="en-US" sz="1600" dirty="0"/>
          </a:p>
        </p:txBody>
      </p:sp>
    </p:spTree>
    <p:extLst>
      <p:ext uri="{BB962C8B-B14F-4D97-AF65-F5344CB8AC3E}">
        <p14:creationId xmlns:p14="http://schemas.microsoft.com/office/powerpoint/2010/main" val="4178334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B20A-89F5-0E83-2FBB-597A9E581103}"/>
              </a:ext>
            </a:extLst>
          </p:cNvPr>
          <p:cNvSpPr>
            <a:spLocks noGrp="1"/>
          </p:cNvSpPr>
          <p:nvPr>
            <p:ph type="title"/>
          </p:nvPr>
        </p:nvSpPr>
        <p:spPr>
          <a:xfrm>
            <a:off x="841248" y="841248"/>
            <a:ext cx="10479024" cy="557784"/>
          </a:xfrm>
        </p:spPr>
        <p:txBody>
          <a:bodyPr/>
          <a:lstStyle/>
          <a:p>
            <a:br>
              <a:rPr lang="en-US" dirty="0"/>
            </a:br>
            <a:endParaRPr lang="en-US" dirty="0"/>
          </a:p>
        </p:txBody>
      </p:sp>
      <p:sp>
        <p:nvSpPr>
          <p:cNvPr id="4" name="Slide Number Placeholder 3">
            <a:extLst>
              <a:ext uri="{FF2B5EF4-FFF2-40B4-BE49-F238E27FC236}">
                <a16:creationId xmlns:a16="http://schemas.microsoft.com/office/drawing/2014/main" id="{527AE480-D58D-8A4F-D9AD-3E0956702A4C}"/>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12</a:t>
            </a:fld>
            <a:endParaRPr lang="en-US" dirty="0"/>
          </a:p>
        </p:txBody>
      </p:sp>
      <p:sp>
        <p:nvSpPr>
          <p:cNvPr id="13314" name="Title 1">
            <a:extLst>
              <a:ext uri="{FF2B5EF4-FFF2-40B4-BE49-F238E27FC236}">
                <a16:creationId xmlns:a16="http://schemas.microsoft.com/office/drawing/2014/main" id="{BE8646F5-3FA4-0155-AB92-A630B1A53B2E}"/>
              </a:ext>
            </a:extLst>
          </p:cNvPr>
          <p:cNvSpPr txBox="1">
            <a:spLocks/>
          </p:cNvSpPr>
          <p:nvPr/>
        </p:nvSpPr>
        <p:spPr>
          <a:xfrm>
            <a:off x="573088" y="365126"/>
            <a:ext cx="10780712" cy="475488"/>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lang="en-ZA" sz="2000" b="1" kern="1200" cap="all" spc="300" baseline="0">
                <a:solidFill>
                  <a:schemeClr val="tx1">
                    <a:lumMod val="85000"/>
                    <a:lumOff val="15000"/>
                  </a:schemeClr>
                </a:solidFill>
                <a:latin typeface="+mj-lt"/>
                <a:ea typeface="+mj-ea"/>
                <a:cs typeface="+mj-cs"/>
              </a:defRPr>
            </a:lvl1pPr>
          </a:lstStyle>
          <a:p>
            <a:r>
              <a:rPr lang="en-US" altLang="en-US" sz="2800" dirty="0">
                <a:latin typeface="Calibri" panose="020F0502020204030204" pitchFamily="34" charset="0"/>
              </a:rPr>
              <a:t>GRAPH 2 &amp;SUGGESTED Recommendations</a:t>
            </a:r>
          </a:p>
        </p:txBody>
      </p:sp>
      <p:pic>
        <p:nvPicPr>
          <p:cNvPr id="13316" name="Content Placeholder 4">
            <a:extLst>
              <a:ext uri="{FF2B5EF4-FFF2-40B4-BE49-F238E27FC236}">
                <a16:creationId xmlns:a16="http://schemas.microsoft.com/office/drawing/2014/main" id="{4083407B-DB47-DB5C-7469-B82E50696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63538" y="1304190"/>
            <a:ext cx="5956300" cy="4059237"/>
          </a:xfrm>
          <a:prstGeom prst="rect">
            <a:avLst/>
          </a:prstGeom>
        </p:spPr>
      </p:pic>
      <p:sp>
        <p:nvSpPr>
          <p:cNvPr id="10" name="Rectangle 9">
            <a:extLst>
              <a:ext uri="{FF2B5EF4-FFF2-40B4-BE49-F238E27FC236}">
                <a16:creationId xmlns:a16="http://schemas.microsoft.com/office/drawing/2014/main" id="{36BAF4D3-AD1B-66AD-BFDB-08A451E9A816}"/>
              </a:ext>
            </a:extLst>
          </p:cNvPr>
          <p:cNvSpPr/>
          <p:nvPr/>
        </p:nvSpPr>
        <p:spPr>
          <a:xfrm>
            <a:off x="7067550" y="1304190"/>
            <a:ext cx="4471988" cy="4448910"/>
          </a:xfrm>
          <a:prstGeom prst="rect">
            <a:avLst/>
          </a:prstGeom>
          <a:noFill/>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b="1" u="sng" dirty="0"/>
              <a:t>Recommendations</a:t>
            </a:r>
          </a:p>
          <a:p>
            <a:pPr algn="ctr" eaLnBrk="1" fontAlgn="auto" hangingPunct="1">
              <a:spcBef>
                <a:spcPts val="0"/>
              </a:spcBef>
              <a:spcAft>
                <a:spcPts val="0"/>
              </a:spcAft>
              <a:defRPr/>
            </a:pPr>
            <a:endParaRPr lang="en-US" u="sng" dirty="0"/>
          </a:p>
          <a:p>
            <a:pPr marL="285750" indent="-285750" eaLnBrk="1" fontAlgn="auto" hangingPunct="1">
              <a:spcBef>
                <a:spcPts val="0"/>
              </a:spcBef>
              <a:spcAft>
                <a:spcPts val="0"/>
              </a:spcAft>
              <a:buFont typeface="Arial" panose="020B0604020202020204" pitchFamily="34" charset="0"/>
              <a:buChar char="•"/>
              <a:defRPr/>
            </a:pPr>
            <a:r>
              <a:rPr lang="en-US" sz="1600" b="1" dirty="0"/>
              <a:t>Hybrid work model dominates</a:t>
            </a:r>
            <a:r>
              <a:rPr lang="en-US" sz="1600" dirty="0"/>
              <a:t> with </a:t>
            </a:r>
            <a:r>
              <a:rPr lang="en-US" sz="1600" b="1" dirty="0"/>
              <a:t>52% </a:t>
            </a:r>
            <a:r>
              <a:rPr lang="en-US" sz="1600" dirty="0"/>
              <a:t>of GEN-Z preferring a flexible mix of office and remote work. </a:t>
            </a:r>
            <a:r>
              <a:rPr lang="en-US" sz="1600" b="1" dirty="0"/>
              <a:t>27% </a:t>
            </a:r>
            <a:r>
              <a:rPr lang="en-US" sz="1600" dirty="0"/>
              <a:t>prefer </a:t>
            </a:r>
            <a:r>
              <a:rPr lang="en-US" sz="1600" b="1" dirty="0"/>
              <a:t>flex office </a:t>
            </a:r>
            <a:r>
              <a:rPr lang="en-US" sz="1600" dirty="0"/>
              <a:t>indicating that structured in-office work is still valued when it allows autonomy.</a:t>
            </a:r>
          </a:p>
          <a:p>
            <a:pPr marL="285750" indent="-285750" eaLnBrk="1" fontAlgn="auto" hangingPunct="1">
              <a:spcBef>
                <a:spcPts val="0"/>
              </a:spcBef>
              <a:spcAft>
                <a:spcPts val="0"/>
              </a:spcAft>
              <a:buFont typeface="Arial" panose="020B0604020202020204" pitchFamily="34" charset="0"/>
              <a:buChar char="•"/>
              <a:defRPr/>
            </a:pPr>
            <a:r>
              <a:rPr lang="en-US" sz="1600" dirty="0"/>
              <a:t>Everyday office culture are only to limited percent.</a:t>
            </a:r>
          </a:p>
          <a:p>
            <a:pPr marL="285750" indent="-285750" eaLnBrk="1" fontAlgn="auto" hangingPunct="1">
              <a:spcBef>
                <a:spcPts val="0"/>
              </a:spcBef>
              <a:spcAft>
                <a:spcPts val="0"/>
              </a:spcAft>
              <a:buFont typeface="Arial" panose="020B0604020202020204" pitchFamily="34" charset="0"/>
              <a:buChar char="•"/>
              <a:defRPr/>
            </a:pPr>
            <a:r>
              <a:rPr lang="en-US" sz="1600" b="1" dirty="0">
                <a:solidFill>
                  <a:srgbClr val="000000"/>
                </a:solidFill>
              </a:rPr>
              <a:t>Enrich Flexible work arrangements.</a:t>
            </a:r>
          </a:p>
          <a:p>
            <a:pPr marL="285750" indent="-285750" eaLnBrk="1" fontAlgn="auto" hangingPunct="1">
              <a:spcBef>
                <a:spcPts val="0"/>
              </a:spcBef>
              <a:spcAft>
                <a:spcPts val="0"/>
              </a:spcAft>
              <a:buFont typeface="Arial" panose="020B0604020202020204" pitchFamily="34" charset="0"/>
              <a:buChar char="•"/>
              <a:defRPr/>
            </a:pPr>
            <a:r>
              <a:rPr lang="en-US" sz="1600" b="1" dirty="0">
                <a:solidFill>
                  <a:srgbClr val="000000"/>
                </a:solidFill>
              </a:rPr>
              <a:t>Promote Time off and encourage breaks to avoid burnouts.</a:t>
            </a:r>
          </a:p>
          <a:p>
            <a:pPr marL="285750" indent="-285750" eaLnBrk="1" fontAlgn="auto" hangingPunct="1">
              <a:spcBef>
                <a:spcPts val="0"/>
              </a:spcBef>
              <a:spcAft>
                <a:spcPts val="0"/>
              </a:spcAft>
              <a:buFont typeface="Arial" panose="020B0604020202020204" pitchFamily="34" charset="0"/>
              <a:buChar char="•"/>
              <a:defRPr/>
            </a:pPr>
            <a:r>
              <a:rPr lang="en-US" sz="1600" dirty="0">
                <a:solidFill>
                  <a:srgbClr val="000000"/>
                </a:solidFill>
              </a:rPr>
              <a:t>Need for cutting-edge tools, digital communication, and tech-</a:t>
            </a:r>
            <a:r>
              <a:rPr lang="en-US" sz="1600" dirty="0" err="1">
                <a:solidFill>
                  <a:srgbClr val="000000"/>
                </a:solidFill>
              </a:rPr>
              <a:t>savy</a:t>
            </a:r>
            <a:r>
              <a:rPr lang="en-US" sz="1600" dirty="0">
                <a:solidFill>
                  <a:srgbClr val="000000"/>
                </a:solidFill>
              </a:rPr>
              <a:t> environments are highly preferable.</a:t>
            </a:r>
          </a:p>
          <a:p>
            <a:pPr marL="285750" indent="-285750" eaLnBrk="1" fontAlgn="auto" hangingPunct="1">
              <a:spcBef>
                <a:spcPts val="0"/>
              </a:spcBef>
              <a:spcAft>
                <a:spcPts val="0"/>
              </a:spcAft>
              <a:buFont typeface="Arial" panose="020B0604020202020204" pitchFamily="34" charset="0"/>
              <a:buChar char="•"/>
              <a:defRPr/>
            </a:pPr>
            <a:endParaRPr lang="en-US" sz="1600" b="1" dirty="0"/>
          </a:p>
        </p:txBody>
      </p:sp>
    </p:spTree>
    <p:extLst>
      <p:ext uri="{BB962C8B-B14F-4D97-AF65-F5344CB8AC3E}">
        <p14:creationId xmlns:p14="http://schemas.microsoft.com/office/powerpoint/2010/main" val="155029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A044637-4D3E-B3D9-0B89-860FCF55F8D5}"/>
              </a:ext>
            </a:extLst>
          </p:cNvPr>
          <p:cNvSpPr>
            <a:spLocks noGrp="1"/>
          </p:cNvSpPr>
          <p:nvPr>
            <p:ph type="title"/>
          </p:nvPr>
        </p:nvSpPr>
        <p:spPr>
          <a:xfrm>
            <a:off x="546100" y="365125"/>
            <a:ext cx="10807700" cy="625475"/>
          </a:xfrm>
        </p:spPr>
        <p:txBody>
          <a:bodyPr/>
          <a:lstStyle/>
          <a:p>
            <a:pPr eaLnBrk="1" hangingPunct="1"/>
            <a:r>
              <a:rPr lang="en-US" altLang="en-US" sz="2800" b="1" dirty="0">
                <a:latin typeface="Calibri" panose="020F0502020204030204" pitchFamily="34" charset="0"/>
              </a:rPr>
              <a:t>GRAPH 3 &amp; SUGGESTED RECOMMENDATIONS</a:t>
            </a:r>
          </a:p>
        </p:txBody>
      </p:sp>
      <p:pic>
        <p:nvPicPr>
          <p:cNvPr id="14340" name="Content Placeholder 5">
            <a:extLst>
              <a:ext uri="{FF2B5EF4-FFF2-40B4-BE49-F238E27FC236}">
                <a16:creationId xmlns:a16="http://schemas.microsoft.com/office/drawing/2014/main" id="{BBAD0EB6-DC11-CCB6-B526-3C4B8F918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46100" y="1028700"/>
            <a:ext cx="4229100" cy="4800600"/>
          </a:xfrm>
          <a:prstGeom prst="rect">
            <a:avLst/>
          </a:prstGeom>
        </p:spPr>
      </p:pic>
      <p:sp>
        <p:nvSpPr>
          <p:cNvPr id="7" name="Rectangle 6">
            <a:extLst>
              <a:ext uri="{FF2B5EF4-FFF2-40B4-BE49-F238E27FC236}">
                <a16:creationId xmlns:a16="http://schemas.microsoft.com/office/drawing/2014/main" id="{E5B3D601-5564-8F91-F126-872D047ED715}"/>
              </a:ext>
            </a:extLst>
          </p:cNvPr>
          <p:cNvSpPr/>
          <p:nvPr/>
        </p:nvSpPr>
        <p:spPr>
          <a:xfrm>
            <a:off x="5080130" y="1028700"/>
            <a:ext cx="6111745" cy="4952221"/>
          </a:xfrm>
          <a:prstGeom prst="rect">
            <a:avLst/>
          </a:prstGeom>
          <a:noFill/>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r>
              <a:rPr lang="en-US" b="1" u="sng" dirty="0">
                <a:solidFill>
                  <a:schemeClr val="bg1"/>
                </a:solidFill>
              </a:rPr>
              <a:t>Recommendations</a:t>
            </a:r>
          </a:p>
          <a:p>
            <a:pPr algn="ctr" eaLnBrk="1" fontAlgn="auto" hangingPunct="1">
              <a:spcBef>
                <a:spcPts val="0"/>
              </a:spcBef>
              <a:spcAft>
                <a:spcPts val="0"/>
              </a:spcAft>
              <a:defRPr/>
            </a:pPr>
            <a:endParaRPr lang="en-US" u="sng" dirty="0"/>
          </a:p>
          <a:p>
            <a:pPr marL="285750" indent="-285750" eaLnBrk="1" fontAlgn="auto" hangingPunct="1">
              <a:spcBef>
                <a:spcPts val="0"/>
              </a:spcBef>
              <a:spcAft>
                <a:spcPts val="0"/>
              </a:spcAft>
              <a:buFont typeface="Arial" panose="020B0604020202020204" pitchFamily="34" charset="0"/>
              <a:buChar char="•"/>
              <a:defRPr/>
            </a:pPr>
            <a:r>
              <a:rPr lang="en-US" b="1" dirty="0">
                <a:solidFill>
                  <a:schemeClr val="bg2"/>
                </a:solidFill>
              </a:rPr>
              <a:t>Emphasize the value of collaboration and teamwork thereby building a ecosystem of trust and inclusive work culture. </a:t>
            </a:r>
            <a:endParaRPr lang="en-US" b="1" dirty="0">
              <a:solidFill>
                <a:schemeClr val="bg2"/>
              </a:solidFill>
              <a:latin typeface="Segoe UI" panose="020B0502040204020203" pitchFamily="34" charset="0"/>
            </a:endParaRPr>
          </a:p>
          <a:p>
            <a:pPr marL="285750" indent="-285750" eaLnBrk="1" fontAlgn="auto" hangingPunct="1">
              <a:spcBef>
                <a:spcPts val="0"/>
              </a:spcBef>
              <a:spcAft>
                <a:spcPts val="0"/>
              </a:spcAft>
              <a:buFont typeface="Arial" panose="020B0604020202020204" pitchFamily="34" charset="0"/>
              <a:buChar char="•"/>
              <a:defRPr/>
            </a:pPr>
            <a:r>
              <a:rPr lang="en-US" dirty="0">
                <a:solidFill>
                  <a:schemeClr val="bg2"/>
                </a:solidFill>
              </a:rPr>
              <a:t>Explore the desire to for healthy work life balance &amp; Discuss strategies for promoting well-being and mental health in the workplace as well.</a:t>
            </a:r>
          </a:p>
          <a:p>
            <a:pPr marL="285750" indent="-285750" eaLnBrk="1" fontAlgn="auto" hangingPunct="1">
              <a:spcBef>
                <a:spcPts val="0"/>
              </a:spcBef>
              <a:spcAft>
                <a:spcPts val="0"/>
              </a:spcAft>
              <a:buFont typeface="Arial" panose="020B0604020202020204" pitchFamily="34" charset="0"/>
              <a:buChar char="•"/>
              <a:defRPr/>
            </a:pPr>
            <a:r>
              <a:rPr lang="en-US" b="1" dirty="0">
                <a:solidFill>
                  <a:schemeClr val="bg2"/>
                </a:solidFill>
              </a:rPr>
              <a:t>Implement Wellness program as well as regular training and development  &amp;  Employee assistance program(EAP).</a:t>
            </a:r>
          </a:p>
          <a:p>
            <a:pPr marL="285750" indent="-285750" eaLnBrk="1" fontAlgn="auto" hangingPunct="1">
              <a:spcBef>
                <a:spcPts val="0"/>
              </a:spcBef>
              <a:spcAft>
                <a:spcPts val="0"/>
              </a:spcAft>
              <a:buFont typeface="Arial" panose="020B0604020202020204" pitchFamily="34" charset="0"/>
              <a:buChar char="•"/>
              <a:defRPr/>
            </a:pPr>
            <a:r>
              <a:rPr lang="en-US" b="1" dirty="0">
                <a:solidFill>
                  <a:schemeClr val="bg2"/>
                </a:solidFill>
              </a:rPr>
              <a:t>Delegating Responsibilities would yet be another thing which can be considered during workload. </a:t>
            </a:r>
            <a:endParaRPr lang="en-US" b="1" dirty="0">
              <a:solidFill>
                <a:schemeClr val="bg2"/>
              </a:solidFill>
              <a:latin typeface="Segoe UI" panose="020B0502040204020203" pitchFamily="34" charset="0"/>
            </a:endParaRPr>
          </a:p>
        </p:txBody>
      </p:sp>
    </p:spTree>
    <p:extLst>
      <p:ext uri="{BB962C8B-B14F-4D97-AF65-F5344CB8AC3E}">
        <p14:creationId xmlns:p14="http://schemas.microsoft.com/office/powerpoint/2010/main" val="198843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E216-0CE2-B6B3-83DB-C1B4C9CB2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FBEE7-8643-F1B9-87F4-EA8DD10450D3}"/>
              </a:ext>
            </a:extLst>
          </p:cNvPr>
          <p:cNvSpPr>
            <a:spLocks noGrp="1"/>
          </p:cNvSpPr>
          <p:nvPr>
            <p:ph type="title"/>
          </p:nvPr>
        </p:nvSpPr>
        <p:spPr>
          <a:xfrm>
            <a:off x="841248" y="419100"/>
            <a:ext cx="10479024" cy="979932"/>
          </a:xfrm>
        </p:spPr>
        <p:txBody>
          <a:bodyPr/>
          <a:lstStyle/>
          <a:p>
            <a:br>
              <a:rPr lang="en-US" dirty="0"/>
            </a:br>
            <a:r>
              <a:rPr lang="en-US" dirty="0"/>
              <a:t>CONCLUSION</a:t>
            </a:r>
          </a:p>
        </p:txBody>
      </p:sp>
      <p:sp>
        <p:nvSpPr>
          <p:cNvPr id="4" name="Slide Number Placeholder 3">
            <a:extLst>
              <a:ext uri="{FF2B5EF4-FFF2-40B4-BE49-F238E27FC236}">
                <a16:creationId xmlns:a16="http://schemas.microsoft.com/office/drawing/2014/main" id="{B9790539-1C62-2F9E-3B18-5156CCDDF996}"/>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14</a:t>
            </a:fld>
            <a:endParaRPr lang="en-US" dirty="0"/>
          </a:p>
        </p:txBody>
      </p:sp>
      <p:sp>
        <p:nvSpPr>
          <p:cNvPr id="5" name="TextBox 4">
            <a:extLst>
              <a:ext uri="{FF2B5EF4-FFF2-40B4-BE49-F238E27FC236}">
                <a16:creationId xmlns:a16="http://schemas.microsoft.com/office/drawing/2014/main" id="{0FAC5E77-59EF-4F6A-00CD-4AA70E968AEB}"/>
              </a:ext>
            </a:extLst>
          </p:cNvPr>
          <p:cNvSpPr txBox="1"/>
          <p:nvPr/>
        </p:nvSpPr>
        <p:spPr>
          <a:xfrm>
            <a:off x="1047750" y="1228725"/>
            <a:ext cx="9557385" cy="3970318"/>
          </a:xfrm>
          <a:prstGeom prst="rect">
            <a:avLst/>
          </a:prstGeom>
          <a:noFill/>
        </p:spPr>
        <p:txBody>
          <a:bodyPr wrap="square">
            <a:spAutoFit/>
          </a:bodyPr>
          <a:lstStyle/>
          <a:p>
            <a:pPr>
              <a:buFont typeface="Arial" panose="020B0604020202020204" pitchFamily="34" charset="0"/>
              <a:buChar char="•"/>
            </a:pPr>
            <a:r>
              <a:rPr lang="en-US" b="1" dirty="0"/>
              <a:t>Gen-Z prioritizes flexibility</a:t>
            </a:r>
            <a:r>
              <a:rPr lang="en-US" dirty="0"/>
              <a:t> — remote/hybrid work models and supportive work–life balance remain their top expectations from employers.</a:t>
            </a:r>
          </a:p>
          <a:p>
            <a:pPr>
              <a:buFont typeface="Arial" panose="020B0604020202020204" pitchFamily="34" charset="0"/>
              <a:buChar char="•"/>
            </a:pPr>
            <a:r>
              <a:rPr lang="en-US" b="1" dirty="0"/>
              <a:t>Career growth and continuous learning</a:t>
            </a:r>
            <a:r>
              <a:rPr lang="en-US" dirty="0"/>
              <a:t> are major decision drivers; Gen-Z prefers companies that offer upskilling, mentorship, and fast career progression.</a:t>
            </a:r>
          </a:p>
          <a:p>
            <a:pPr>
              <a:buFont typeface="Arial" panose="020B0604020202020204" pitchFamily="34" charset="0"/>
              <a:buChar char="•"/>
            </a:pPr>
            <a:r>
              <a:rPr lang="en-US" b="1" dirty="0"/>
              <a:t>Work culture matters more than salary alone</a:t>
            </a:r>
            <a:r>
              <a:rPr lang="en-US" dirty="0"/>
              <a:t> — inclusive teams, transparent communication, and mental-health friendly environments strongly influence job choices.</a:t>
            </a:r>
          </a:p>
          <a:p>
            <a:pPr>
              <a:buFont typeface="Arial" panose="020B0604020202020204" pitchFamily="34" charset="0"/>
              <a:buChar char="•"/>
            </a:pPr>
            <a:r>
              <a:rPr lang="en-US" b="1" dirty="0"/>
              <a:t>Tech-savvy workplaces attract Gen-Z</a:t>
            </a:r>
            <a:r>
              <a:rPr lang="en-US" dirty="0"/>
              <a:t>, especially those using modern tools, digital workflows, and innovation-driven projects.</a:t>
            </a:r>
          </a:p>
          <a:p>
            <a:pPr>
              <a:buFont typeface="Arial" panose="020B0604020202020204" pitchFamily="34" charset="0"/>
              <a:buChar char="•"/>
            </a:pPr>
            <a:r>
              <a:rPr lang="en-US" b="1" dirty="0"/>
              <a:t>Data analysis shows a clear preference</a:t>
            </a:r>
            <a:r>
              <a:rPr lang="en-US" dirty="0"/>
              <a:t> for companies with strong employer branding, positive reviews, and stability (e.g., companies like Accenture, Deloitte, TCS).</a:t>
            </a:r>
          </a:p>
          <a:p>
            <a:pPr>
              <a:buFont typeface="Arial" panose="020B0604020202020204" pitchFamily="34" charset="0"/>
              <a:buChar char="•"/>
            </a:pPr>
            <a:r>
              <a:rPr lang="en-US" b="1" dirty="0"/>
              <a:t>Compensation and promotion clarity</a:t>
            </a:r>
            <a:r>
              <a:rPr lang="en-US" dirty="0"/>
              <a:t> remain pain points; Gen-Z expects fair pay, predictable evaluation cycles, and transparent growth pathways.</a:t>
            </a:r>
          </a:p>
          <a:p>
            <a:pPr>
              <a:buFont typeface="Arial" panose="020B0604020202020204" pitchFamily="34" charset="0"/>
              <a:buChar char="•"/>
            </a:pPr>
            <a:r>
              <a:rPr lang="en-US" b="1" dirty="0"/>
              <a:t>Gen-Z seeks purpose-driven work</a:t>
            </a:r>
            <a:r>
              <a:rPr lang="en-US" dirty="0"/>
              <a:t> — roles that allow impact, creativity, and alignment with personal values.</a:t>
            </a:r>
          </a:p>
        </p:txBody>
      </p:sp>
    </p:spTree>
    <p:extLst>
      <p:ext uri="{BB962C8B-B14F-4D97-AF65-F5344CB8AC3E}">
        <p14:creationId xmlns:p14="http://schemas.microsoft.com/office/powerpoint/2010/main" val="2240537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799A-99EC-41F5-A812-B0FF129BD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50BD3-A596-2848-F227-E153E9872718}"/>
              </a:ext>
            </a:extLst>
          </p:cNvPr>
          <p:cNvSpPr>
            <a:spLocks noGrp="1"/>
          </p:cNvSpPr>
          <p:nvPr>
            <p:ph type="title"/>
          </p:nvPr>
        </p:nvSpPr>
        <p:spPr>
          <a:xfrm>
            <a:off x="841248" y="841248"/>
            <a:ext cx="10479024" cy="557784"/>
          </a:xfrm>
        </p:spPr>
        <p:txBody>
          <a:bodyPr/>
          <a:lstStyle/>
          <a:p>
            <a:br>
              <a:rPr lang="en-US" dirty="0"/>
            </a:br>
            <a:endParaRPr lang="en-US" dirty="0"/>
          </a:p>
        </p:txBody>
      </p:sp>
      <p:sp>
        <p:nvSpPr>
          <p:cNvPr id="4" name="Slide Number Placeholder 3">
            <a:extLst>
              <a:ext uri="{FF2B5EF4-FFF2-40B4-BE49-F238E27FC236}">
                <a16:creationId xmlns:a16="http://schemas.microsoft.com/office/drawing/2014/main" id="{AC5F884D-A4E2-7E81-561B-A272DC70DCAE}"/>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15</a:t>
            </a:fld>
            <a:endParaRPr lang="en-US" dirty="0"/>
          </a:p>
        </p:txBody>
      </p:sp>
      <p:pic>
        <p:nvPicPr>
          <p:cNvPr id="5" name="Picture 4">
            <a:extLst>
              <a:ext uri="{FF2B5EF4-FFF2-40B4-BE49-F238E27FC236}">
                <a16:creationId xmlns:a16="http://schemas.microsoft.com/office/drawing/2014/main" id="{AE29CD32-1FAE-052A-3EB9-B8D8F61DC99D}"/>
              </a:ext>
            </a:extLst>
          </p:cNvPr>
          <p:cNvPicPr>
            <a:picLocks noChangeAspect="1"/>
          </p:cNvPicPr>
          <p:nvPr/>
        </p:nvPicPr>
        <p:blipFill>
          <a:blip r:embed="rId2"/>
          <a:stretch>
            <a:fillRect/>
          </a:stretch>
        </p:blipFill>
        <p:spPr>
          <a:xfrm>
            <a:off x="0" y="24442"/>
            <a:ext cx="12191999" cy="6809116"/>
          </a:xfrm>
          <a:prstGeom prst="rect">
            <a:avLst/>
          </a:prstGeom>
        </p:spPr>
      </p:pic>
    </p:spTree>
    <p:extLst>
      <p:ext uri="{BB962C8B-B14F-4D97-AF65-F5344CB8AC3E}">
        <p14:creationId xmlns:p14="http://schemas.microsoft.com/office/powerpoint/2010/main" val="1228731445"/>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A8837B91-4329-4308-94DA-BB811B5F30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3.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Corporate colors presentation</Template>
  <TotalTime>448</TotalTime>
  <Words>951</Words>
  <Application>Microsoft Office PowerPoint</Application>
  <PresentationFormat>Widescreen</PresentationFormat>
  <Paragraphs>115</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Light</vt:lpstr>
      <vt:lpstr>Arial</vt:lpstr>
      <vt:lpstr>Calibri</vt:lpstr>
      <vt:lpstr>Segoe UI</vt:lpstr>
      <vt:lpstr>Wingdings</vt:lpstr>
      <vt:lpstr>Custom</vt:lpstr>
      <vt:lpstr>Understanding career aspirations of gen-z </vt:lpstr>
      <vt:lpstr>Agenda</vt:lpstr>
      <vt:lpstr>Introduction  </vt:lpstr>
      <vt:lpstr>THE PROBLEM STATEMENT </vt:lpstr>
      <vt:lpstr>PROJECT FLOW</vt:lpstr>
      <vt:lpstr>Data collection via Google forms </vt:lpstr>
      <vt:lpstr>DATA ANALYSIS USING SQL QUERIES </vt:lpstr>
      <vt:lpstr>EXECUTIVE DASHBOARD IN EXCEL </vt:lpstr>
      <vt:lpstr>FUNCTIONAL DASHBOARD IN POWERBI </vt:lpstr>
      <vt:lpstr>ACCENTURE REVIEW RATINGS(AMBITIONBOX AND INDEED)</vt:lpstr>
      <vt:lpstr>GRAPH 1 &amp;  Suggested Recommendations</vt:lpstr>
      <vt:lpstr> </vt:lpstr>
      <vt:lpstr>GRAPH 3 &amp; SUGGESTED RECOMMENDATIONS</vt:lpstr>
      <vt:lpstr> CONCLUSION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Keerthana Nyalapally</dc:creator>
  <cp:lastModifiedBy>Keerthana Nyalapally</cp:lastModifiedBy>
  <cp:revision>1</cp:revision>
  <dcterms:created xsi:type="dcterms:W3CDTF">2025-12-06T08:20:20Z</dcterms:created>
  <dcterms:modified xsi:type="dcterms:W3CDTF">2025-12-06T15:49:05Z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